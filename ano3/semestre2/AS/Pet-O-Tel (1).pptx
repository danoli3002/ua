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  <p:sldMasterId id="2147483726" r:id="rId7"/>
  </p:sldMasterIdLst>
  <p:notesMasterIdLst>
    <p:notesMasterId r:id="rId19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3" r:id="rId14"/>
    <p:sldId id="264" r:id="rId15"/>
    <p:sldId id="267" r:id="rId16"/>
    <p:sldId id="268" r:id="rId17"/>
    <p:sldId id="269" r:id="rId18"/>
  </p:sldIdLst>
  <p:sldSz cx="14630400" cy="8229600"/>
  <p:notesSz cx="8229600" cy="146304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B108CF-B737-4F16-9B84-EAF575DA8E10}" v="25" dt="2025-03-27T00:36:28.8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105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pt-PT" sz="4400" b="0" strike="noStrike" spc="-1">
                <a:solidFill>
                  <a:srgbClr val="000000"/>
                </a:solidFill>
                <a:latin typeface="Calibri Light"/>
              </a:rPr>
              <a:t>Clique para mover o diapositivo</a:t>
            </a:r>
          </a:p>
        </p:txBody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pt-PT" sz="2000" b="0" strike="noStrike" spc="-1">
                <a:solidFill>
                  <a:srgbClr val="000000"/>
                </a:solidFill>
                <a:latin typeface="Arial"/>
              </a:rPr>
              <a:t>Clique para editar o formato das notas</a:t>
            </a:r>
          </a:p>
        </p:txBody>
      </p:sp>
      <p:sp>
        <p:nvSpPr>
          <p:cNvPr id="33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&lt;cabeçalho&gt;</a:t>
            </a:r>
          </a:p>
        </p:txBody>
      </p:sp>
      <p:sp>
        <p:nvSpPr>
          <p:cNvPr id="33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33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33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PT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6FF608A-0F9C-4540-A847-3382A7959BF2}" type="slidenum">
              <a:rPr lang="pt-PT" sz="1400" b="0" strike="noStrike" spc="-1">
                <a:solidFill>
                  <a:srgbClr val="000000"/>
                </a:solidFill>
                <a:latin typeface="Times New Roman"/>
              </a:rPr>
              <a:t>‹nº›</a:t>
            </a:fld>
            <a:endParaRPr lang="pt-PT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buNone/>
            </a:pPr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D4C0996-26CA-4BC7-A725-9AF71427F835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buNone/>
            </a:pPr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8A3EA79-4404-4B81-B04F-DB2EEFBEEB1C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2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buNone/>
            </a:pPr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F4533E9-36F7-40A1-B054-597D6AE70913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3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buNone/>
            </a:pPr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D157675-3EEE-4887-8834-B374267D2B52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4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buNone/>
            </a:pPr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CD0EDC4-BD51-4A7A-98BE-2E24EF4F047E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5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buNone/>
            </a:pPr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25950AB-4404-4789-B479-DC0B842FF68A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7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buNone/>
            </a:pPr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497D2A4-D09C-4C90-848B-45D136D86AA3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8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C78F5-166A-43A8-C11C-81FB24E2D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>
            <a:extLst>
              <a:ext uri="{FF2B5EF4-FFF2-40B4-BE49-F238E27FC236}">
                <a16:creationId xmlns:a16="http://schemas.microsoft.com/office/drawing/2014/main" id="{CEA4CE2C-8CC5-EBCA-8179-3FE93EA69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>
            <a:extLst>
              <a:ext uri="{FF2B5EF4-FFF2-40B4-BE49-F238E27FC236}">
                <a16:creationId xmlns:a16="http://schemas.microsoft.com/office/drawing/2014/main" id="{4FF61653-7A41-1BB1-A79E-E36557F22CA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buNone/>
            </a:pPr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3">
            <a:extLst>
              <a:ext uri="{FF2B5EF4-FFF2-40B4-BE49-F238E27FC236}">
                <a16:creationId xmlns:a16="http://schemas.microsoft.com/office/drawing/2014/main" id="{3F348493-7DC4-9689-6A6D-187D8754B5CA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497D2A4-D09C-4C90-848B-45D136D86AA3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10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837578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67AB8-AACE-7808-1CA2-2CD290901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>
            <a:extLst>
              <a:ext uri="{FF2B5EF4-FFF2-40B4-BE49-F238E27FC236}">
                <a16:creationId xmlns:a16="http://schemas.microsoft.com/office/drawing/2014/main" id="{E04BC062-2F5C-1D29-52E1-E932964F65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>
            <a:extLst>
              <a:ext uri="{FF2B5EF4-FFF2-40B4-BE49-F238E27FC236}">
                <a16:creationId xmlns:a16="http://schemas.microsoft.com/office/drawing/2014/main" id="{48E6EEE2-39F3-1A2A-E0D2-C4634BD2EC9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buNone/>
            </a:pPr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3">
            <a:extLst>
              <a:ext uri="{FF2B5EF4-FFF2-40B4-BE49-F238E27FC236}">
                <a16:creationId xmlns:a16="http://schemas.microsoft.com/office/drawing/2014/main" id="{70D823A5-0349-591D-E143-B711CD2A7FD7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497D2A4-D09C-4C90-848B-45D136D86AA3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11</a:t>
            </a:fld>
            <a:endParaRPr lang="pt-PT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7423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3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4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8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3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4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5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pt-PT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3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8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9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PT" sz="4400" b="0" strike="noStrike" spc="-1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3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4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5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6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pt-PT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gamma.app/?utm_source=made-with-gamma" TargetMode="Externa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hyperlink" Target="https://gamma.app/?utm_source=made-with-gamma" TargetMode="Externa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hyperlink" Target="https://gamma.app/?utm_source=made-with-gamma" TargetMode="Externa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hyperlink" Target="https://gamma.app/?utm_source=made-with-gamma" TargetMode="Externa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hyperlink" Target="https://gamma.app/?utm_source=made-with-gamma" TargetMode="Externa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hyperlink" Target="https://gamma.app/?utm_source=made-with-gamma" TargetMode="Externa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hyperlink" Target="https://gamma.app/?utm_source=made-with-gamma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DD6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C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Image 0" descr="preencoded.png">
            <a:hlinkClick r:id="rId14"/>
          </p:cNvPr>
          <p:cNvPicPr/>
          <p:nvPr/>
        </p:nvPicPr>
        <p:blipFill>
          <a:blip r:embed="rId15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PT" sz="4400" b="0" strike="noStrike" spc="-1">
                <a:solidFill>
                  <a:srgbClr val="000000"/>
                </a:solidFill>
                <a:latin typeface="Calibri Light"/>
              </a:rPr>
              <a:t>Clique para editar o formato do título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Calibri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400" b="0" strike="noStrike" spc="-1">
                <a:solidFill>
                  <a:srgbClr val="000000"/>
                </a:solidFill>
                <a:latin typeface="Calibri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Sétimo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DD6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C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Image 0" descr="preencoded.png">
            <a:hlinkClick r:id="rId14"/>
          </p:cNvPr>
          <p:cNvPicPr/>
          <p:nvPr/>
        </p:nvPicPr>
        <p:blipFill>
          <a:blip r:embed="rId15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PT" sz="4400" b="0" strike="noStrike" spc="-1">
                <a:solidFill>
                  <a:srgbClr val="000000"/>
                </a:solidFill>
                <a:latin typeface="Calibri Light"/>
              </a:rPr>
              <a:t>Clique para editar o formato do título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Calibri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400" b="0" strike="noStrike" spc="-1">
                <a:solidFill>
                  <a:srgbClr val="000000"/>
                </a:solidFill>
                <a:latin typeface="Calibri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Sétimo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DD6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C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Image 0" descr="preencoded.png">
            <a:hlinkClick r:id="rId14"/>
          </p:cNvPr>
          <p:cNvPicPr/>
          <p:nvPr/>
        </p:nvPicPr>
        <p:blipFill>
          <a:blip r:embed="rId15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PT" sz="4400" b="0" strike="noStrike" spc="-1">
                <a:solidFill>
                  <a:srgbClr val="000000"/>
                </a:solidFill>
                <a:latin typeface="Calibri Light"/>
              </a:rPr>
              <a:t>Clique para editar o formato do título</a:t>
            </a: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Calibri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400" b="0" strike="noStrike" spc="-1">
                <a:solidFill>
                  <a:srgbClr val="000000"/>
                </a:solidFill>
                <a:latin typeface="Calibri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Sétimo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DD6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C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Image 0" descr="preencoded.png">
            <a:hlinkClick r:id="rId14"/>
          </p:cNvPr>
          <p:cNvPicPr/>
          <p:nvPr/>
        </p:nvPicPr>
        <p:blipFill>
          <a:blip r:embed="rId15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PT" sz="4400" b="0" strike="noStrike" spc="-1">
                <a:solidFill>
                  <a:srgbClr val="000000"/>
                </a:solidFill>
                <a:latin typeface="Calibri Light"/>
              </a:rPr>
              <a:t>Clique para editar o formato do título</a:t>
            </a: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Calibri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400" b="0" strike="noStrike" spc="-1">
                <a:solidFill>
                  <a:srgbClr val="000000"/>
                </a:solidFill>
                <a:latin typeface="Calibri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Sétimo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DD6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C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Image 0" descr="preencoded.png">
            <a:hlinkClick r:id="rId14"/>
          </p:cNvPr>
          <p:cNvPicPr/>
          <p:nvPr/>
        </p:nvPicPr>
        <p:blipFill>
          <a:blip r:embed="rId15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PT" sz="4400" b="0" strike="noStrike" spc="-1">
                <a:solidFill>
                  <a:srgbClr val="000000"/>
                </a:solidFill>
                <a:latin typeface="Calibri Light"/>
              </a:rPr>
              <a:t>Clique para editar o formato do título</a:t>
            </a: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Calibri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400" b="0" strike="noStrike" spc="-1">
                <a:solidFill>
                  <a:srgbClr val="000000"/>
                </a:solidFill>
                <a:latin typeface="Calibri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Sétimo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DD6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C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7" name="Image 0" descr="preencoded.png">
            <a:hlinkClick r:id="rId14"/>
          </p:cNvPr>
          <p:cNvPicPr/>
          <p:nvPr/>
        </p:nvPicPr>
        <p:blipFill>
          <a:blip r:embed="rId15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PT" sz="4400" b="0" strike="noStrike" spc="-1">
                <a:solidFill>
                  <a:srgbClr val="000000"/>
                </a:solidFill>
                <a:latin typeface="Calibri Light"/>
              </a:rPr>
              <a:t>Clique para editar o formato do título</a:t>
            </a: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Calibri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400" b="0" strike="noStrike" spc="-1">
                <a:solidFill>
                  <a:srgbClr val="000000"/>
                </a:solidFill>
                <a:latin typeface="Calibri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Sétimo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DDD6C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EFEC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8" name="Image 0" descr="preencoded.png">
            <a:hlinkClick r:id="rId14"/>
          </p:cNvPr>
          <p:cNvPicPr/>
          <p:nvPr/>
        </p:nvPicPr>
        <p:blipFill>
          <a:blip r:embed="rId15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PT" sz="4400" b="0" strike="noStrike" spc="-1">
                <a:solidFill>
                  <a:srgbClr val="000000"/>
                </a:solidFill>
                <a:latin typeface="Calibri Light"/>
              </a:rPr>
              <a:t>Clique para editar o formato do título</a:t>
            </a:r>
          </a:p>
        </p:txBody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3200" b="0" strike="noStrike" spc="-1">
                <a:solidFill>
                  <a:srgbClr val="000000"/>
                </a:solidFill>
                <a:latin typeface="Calibri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400" b="0" strike="noStrike" spc="-1">
                <a:solidFill>
                  <a:srgbClr val="000000"/>
                </a:solidFill>
                <a:latin typeface="Calibri"/>
              </a:rPr>
              <a:t>Segundo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Terceiro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Quarto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Quinto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Sexto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PT" sz="2000" b="0" strike="noStrike" spc="-1">
                <a:solidFill>
                  <a:srgbClr val="000000"/>
                </a:solidFill>
                <a:latin typeface="Calibri"/>
              </a:rPr>
              <a:t>Sétimo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9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335" name="Text 0"/>
          <p:cNvSpPr/>
          <p:nvPr/>
        </p:nvSpPr>
        <p:spPr>
          <a:xfrm>
            <a:off x="6280200" y="2872800"/>
            <a:ext cx="7556040" cy="141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en-US" sz="4450" b="1" strike="noStrike" spc="-1" dirty="0">
                <a:solidFill>
                  <a:srgbClr val="282824"/>
                </a:solidFill>
                <a:latin typeface="Lato Bold"/>
                <a:ea typeface="Lato Bold"/>
              </a:rPr>
              <a:t>Pet-O-Tel: Plataforma para Bem-Estar Animal</a:t>
            </a:r>
            <a:endParaRPr lang="pt-PT" sz="44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1"/>
          <p:cNvSpPr/>
          <p:nvPr/>
        </p:nvSpPr>
        <p:spPr>
          <a:xfrm>
            <a:off x="6280200" y="4630680"/>
            <a:ext cx="7556040" cy="72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2000" b="0" strike="noStrike" spc="-1" dirty="0" err="1">
                <a:solidFill>
                  <a:srgbClr val="4A4A45"/>
                </a:solidFill>
                <a:latin typeface="Lato"/>
                <a:ea typeface="Lato"/>
              </a:rPr>
              <a:t>Apresentação</a:t>
            </a:r>
            <a:r>
              <a:rPr lang="en-US" sz="2000" b="0" strike="noStrike" spc="-1" dirty="0">
                <a:solidFill>
                  <a:srgbClr val="4A4A45"/>
                </a:solidFill>
                <a:latin typeface="Lato"/>
                <a:ea typeface="Lato"/>
              </a:rPr>
              <a:t> dos </a:t>
            </a:r>
            <a:r>
              <a:rPr lang="pt-PT" sz="2000" b="0" i="0" u="none" strike="noStrike" dirty="0">
                <a:solidFill>
                  <a:srgbClr val="000000"/>
                </a:solidFill>
                <a:effectLst/>
                <a:latin typeface="Inter"/>
              </a:rPr>
              <a:t>resultados de análise </a:t>
            </a:r>
            <a:r>
              <a:rPr lang="en-US" sz="2000" b="0" strike="noStrike" spc="-1" dirty="0">
                <a:solidFill>
                  <a:srgbClr val="4A4A45"/>
                </a:solidFill>
                <a:latin typeface="Lato"/>
                <a:ea typeface="Lato"/>
              </a:rPr>
              <a:t>do </a:t>
            </a:r>
            <a:r>
              <a:rPr lang="en-US" sz="2000" b="0" strike="noStrike" spc="-1" dirty="0" err="1">
                <a:solidFill>
                  <a:srgbClr val="4A4A45"/>
                </a:solidFill>
                <a:latin typeface="Lato"/>
                <a:ea typeface="Lato"/>
              </a:rPr>
              <a:t>produto</a:t>
            </a:r>
            <a:r>
              <a:rPr lang="en-US" sz="2000" b="0" strike="noStrike" spc="-1" dirty="0">
                <a:solidFill>
                  <a:srgbClr val="4A4A45"/>
                </a:solidFill>
                <a:latin typeface="Lato"/>
                <a:ea typeface="Lato"/>
              </a:rPr>
              <a:t> Pet-O-Tel, </a:t>
            </a:r>
            <a:r>
              <a:rPr lang="en-US" sz="2000" b="0" strike="noStrike" spc="-1" dirty="0" err="1">
                <a:solidFill>
                  <a:srgbClr val="4A4A45"/>
                </a:solidFill>
                <a:latin typeface="Lato"/>
                <a:ea typeface="Lato"/>
              </a:rPr>
              <a:t>uma</a:t>
            </a:r>
            <a:r>
              <a:rPr lang="en-US" sz="2000" b="0" strike="noStrike" spc="-1" dirty="0">
                <a:solidFill>
                  <a:srgbClr val="4A4A45"/>
                </a:solidFill>
                <a:latin typeface="Lato"/>
                <a:ea typeface="Lato"/>
              </a:rPr>
              <a:t> </a:t>
            </a:r>
            <a:r>
              <a:rPr lang="en-US" sz="2000" b="0" strike="noStrike" spc="-1" dirty="0" err="1">
                <a:solidFill>
                  <a:srgbClr val="4A4A45"/>
                </a:solidFill>
                <a:latin typeface="Lato"/>
                <a:ea typeface="Lato"/>
              </a:rPr>
              <a:t>plataforma</a:t>
            </a:r>
            <a:r>
              <a:rPr lang="en-US" sz="2000" b="0" strike="noStrike" spc="-1" dirty="0">
                <a:solidFill>
                  <a:srgbClr val="4A4A45"/>
                </a:solidFill>
                <a:latin typeface="Lato"/>
                <a:ea typeface="Lato"/>
              </a:rPr>
              <a:t> digital para </a:t>
            </a:r>
            <a:r>
              <a:rPr lang="en-US" sz="2000" b="0" strike="noStrike" spc="-1" dirty="0" err="1">
                <a:solidFill>
                  <a:srgbClr val="4A4A45"/>
                </a:solidFill>
                <a:latin typeface="Lato"/>
                <a:ea typeface="Lato"/>
              </a:rPr>
              <a:t>conectar</a:t>
            </a:r>
            <a:r>
              <a:rPr lang="en-US" sz="2000" b="0" strike="noStrike" spc="-1" dirty="0">
                <a:solidFill>
                  <a:srgbClr val="4A4A45"/>
                </a:solidFill>
                <a:latin typeface="Lato"/>
                <a:ea typeface="Lato"/>
              </a:rPr>
              <a:t> </a:t>
            </a:r>
            <a:r>
              <a:rPr lang="en-US" sz="2000" b="0" strike="noStrike" spc="-1" dirty="0" err="1">
                <a:solidFill>
                  <a:srgbClr val="4A4A45"/>
                </a:solidFill>
                <a:latin typeface="Lato"/>
                <a:ea typeface="Lato"/>
              </a:rPr>
              <a:t>donos</a:t>
            </a:r>
            <a:r>
              <a:rPr lang="en-US" sz="2000" b="0" strike="noStrike" spc="-1" dirty="0">
                <a:solidFill>
                  <a:srgbClr val="4A4A45"/>
                </a:solidFill>
                <a:latin typeface="Lato"/>
                <a:ea typeface="Lato"/>
              </a:rPr>
              <a:t> de </a:t>
            </a:r>
            <a:r>
              <a:rPr lang="en-US" sz="2000" b="0" strike="noStrike" spc="-1" dirty="0" err="1">
                <a:solidFill>
                  <a:srgbClr val="4A4A45"/>
                </a:solidFill>
                <a:latin typeface="Lato"/>
                <a:ea typeface="Lato"/>
              </a:rPr>
              <a:t>animais</a:t>
            </a:r>
            <a:r>
              <a:rPr lang="en-US" sz="2000" b="0" strike="noStrike" spc="-1" dirty="0">
                <a:solidFill>
                  <a:srgbClr val="4A4A45"/>
                </a:solidFill>
                <a:latin typeface="Lato"/>
                <a:ea typeface="Lato"/>
              </a:rPr>
              <a:t> a </a:t>
            </a:r>
            <a:r>
              <a:rPr lang="en-US" sz="2000" b="0" strike="noStrike" spc="-1" dirty="0" err="1">
                <a:solidFill>
                  <a:srgbClr val="4A4A45"/>
                </a:solidFill>
                <a:latin typeface="Lato"/>
                <a:ea typeface="Lato"/>
              </a:rPr>
              <a:t>prestadores</a:t>
            </a:r>
            <a:r>
              <a:rPr lang="en-US" sz="2000" b="0" strike="noStrike" spc="-1" dirty="0">
                <a:solidFill>
                  <a:srgbClr val="4A4A45"/>
                </a:solidFill>
                <a:latin typeface="Lato"/>
                <a:ea typeface="Lato"/>
              </a:rPr>
              <a:t> de </a:t>
            </a:r>
            <a:r>
              <a:rPr lang="en-US" sz="2000" b="0" strike="noStrike" spc="-1" dirty="0" err="1">
                <a:solidFill>
                  <a:srgbClr val="4A4A45"/>
                </a:solidFill>
                <a:latin typeface="Lato"/>
                <a:ea typeface="Lato"/>
              </a:rPr>
              <a:t>serviços</a:t>
            </a:r>
            <a:r>
              <a:rPr lang="en-US" sz="2000" b="0" strike="noStrike" spc="-1" dirty="0">
                <a:solidFill>
                  <a:srgbClr val="4A4A45"/>
                </a:solidFill>
                <a:latin typeface="Lato"/>
                <a:ea typeface="Lato"/>
              </a:rPr>
              <a:t> de </a:t>
            </a:r>
            <a:r>
              <a:rPr lang="en-US" sz="2000" b="0" strike="noStrike" spc="-1" dirty="0" err="1">
                <a:solidFill>
                  <a:srgbClr val="4A4A45"/>
                </a:solidFill>
                <a:latin typeface="Lato"/>
                <a:ea typeface="Lato"/>
              </a:rPr>
              <a:t>bem-estar</a:t>
            </a:r>
            <a:r>
              <a:rPr lang="en-US" sz="2000" b="0" strike="noStrike" spc="-1" dirty="0">
                <a:solidFill>
                  <a:srgbClr val="4A4A45"/>
                </a:solidFill>
                <a:latin typeface="Lato"/>
                <a:ea typeface="Lato"/>
              </a:rPr>
              <a:t> animal.</a:t>
            </a:r>
            <a:endParaRPr lang="pt-PT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7" name="Picture 336"/>
          <p:cNvPicPr/>
          <p:nvPr/>
        </p:nvPicPr>
        <p:blipFill>
          <a:blip r:embed="rId4"/>
          <a:stretch/>
        </p:blipFill>
        <p:spPr>
          <a:xfrm>
            <a:off x="12865680" y="6515280"/>
            <a:ext cx="1714320" cy="1714320"/>
          </a:xfrm>
          <a:prstGeom prst="rect">
            <a:avLst/>
          </a:prstGeom>
          <a:ln w="0">
            <a:noFill/>
          </a:ln>
        </p:spPr>
      </p:pic>
      <p:sp>
        <p:nvSpPr>
          <p:cNvPr id="338" name="TextBox 337"/>
          <p:cNvSpPr txBox="1"/>
          <p:nvPr/>
        </p:nvSpPr>
        <p:spPr>
          <a:xfrm>
            <a:off x="6120000" y="457920"/>
            <a:ext cx="4860000" cy="1882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pt-PT" sz="1800" b="0" strike="noStrike" spc="-1" dirty="0">
                <a:solidFill>
                  <a:srgbClr val="000000"/>
                </a:solidFill>
                <a:latin typeface="Arial"/>
              </a:rPr>
              <a:t>Trabalho feito pelo grupo à-espera-de-Juan:</a:t>
            </a:r>
          </a:p>
          <a:p>
            <a:endParaRPr lang="pt-PT" sz="180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pt-PT" sz="1800" b="0" strike="noStrike" spc="-1" dirty="0">
                <a:solidFill>
                  <a:srgbClr val="000000"/>
                </a:solidFill>
                <a:latin typeface="Arial"/>
              </a:rPr>
              <a:t>Alexandre Silva </a:t>
            </a:r>
          </a:p>
          <a:p>
            <a:r>
              <a:rPr lang="pt-PT" sz="1800" b="0" strike="noStrike" spc="-1" dirty="0">
                <a:solidFill>
                  <a:srgbClr val="000000"/>
                </a:solidFill>
                <a:latin typeface="Arial"/>
              </a:rPr>
              <a:t>Daniel Oliveira</a:t>
            </a:r>
          </a:p>
          <a:p>
            <a:r>
              <a:rPr lang="pt-PT" sz="1800" b="0" strike="noStrike" spc="-1" dirty="0">
                <a:solidFill>
                  <a:srgbClr val="000000"/>
                </a:solidFill>
                <a:latin typeface="Arial"/>
              </a:rPr>
              <a:t>José Miguel</a:t>
            </a:r>
          </a:p>
          <a:p>
            <a:r>
              <a:rPr lang="pt-PT" sz="1800" b="0" strike="noStrike" spc="-1" dirty="0">
                <a:solidFill>
                  <a:srgbClr val="000000"/>
                </a:solidFill>
                <a:latin typeface="Arial"/>
              </a:rPr>
              <a:t>Juan </a:t>
            </a:r>
            <a:r>
              <a:rPr lang="pt-PT" sz="1800" b="0" strike="noStrike" spc="-1" dirty="0" err="1">
                <a:solidFill>
                  <a:srgbClr val="000000"/>
                </a:solidFill>
                <a:latin typeface="Arial"/>
              </a:rPr>
              <a:t>Carpintero</a:t>
            </a:r>
            <a:endParaRPr lang="pt-PT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Text 0"/>
          <p:cNvSpPr/>
          <p:nvPr/>
        </p:nvSpPr>
        <p:spPr>
          <a:xfrm>
            <a:off x="793800" y="2903040"/>
            <a:ext cx="5670360" cy="70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en-US" sz="4450" b="1" spc="-1" dirty="0">
                <a:solidFill>
                  <a:srgbClr val="282824"/>
                </a:solidFill>
                <a:latin typeface="Lato Bold"/>
              </a:rPr>
              <a:t>A </a:t>
            </a:r>
            <a:r>
              <a:rPr lang="en-US" sz="4450" b="1" spc="-1" dirty="0" err="1">
                <a:solidFill>
                  <a:srgbClr val="282824"/>
                </a:solidFill>
                <a:latin typeface="Lato Bold"/>
              </a:rPr>
              <a:t>Metedologia</a:t>
            </a:r>
            <a:endParaRPr lang="pt-PT" sz="44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1"/>
          <p:cNvSpPr/>
          <p:nvPr/>
        </p:nvSpPr>
        <p:spPr>
          <a:xfrm>
            <a:off x="793800" y="41785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 dirty="0">
                <a:solidFill>
                  <a:srgbClr val="282824"/>
                </a:solidFill>
                <a:latin typeface="Lato Bold"/>
                <a:ea typeface="Lato Bold"/>
              </a:rPr>
              <a:t>Conversas </a:t>
            </a:r>
            <a:r>
              <a:rPr lang="en-US" sz="2200" b="1" strike="noStrike" spc="-1" dirty="0" err="1">
                <a:solidFill>
                  <a:srgbClr val="282824"/>
                </a:solidFill>
                <a:latin typeface="Lato Bold"/>
                <a:ea typeface="Lato Bold"/>
              </a:rPr>
              <a:t>Informais</a:t>
            </a:r>
            <a:endParaRPr lang="pt-PT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2"/>
          <p:cNvSpPr/>
          <p:nvPr/>
        </p:nvSpPr>
        <p:spPr>
          <a:xfrm>
            <a:off x="793800" y="4759920"/>
            <a:ext cx="624420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r>
              <a:rPr lang="pt-PT" dirty="0">
                <a:solidFill>
                  <a:schemeClr val="bg1">
                    <a:lumMod val="50000"/>
                  </a:schemeClr>
                </a:solidFill>
              </a:rPr>
              <a:t>Entrevistas informais com donos de animais</a:t>
            </a:r>
            <a:r>
              <a:rPr lang="pt-PT" sz="1600" dirty="0"/>
              <a:t>.</a:t>
            </a:r>
          </a:p>
        </p:txBody>
      </p:sp>
      <p:sp>
        <p:nvSpPr>
          <p:cNvPr id="342" name="Text 3"/>
          <p:cNvSpPr/>
          <p:nvPr/>
        </p:nvSpPr>
        <p:spPr>
          <a:xfrm>
            <a:off x="7599600" y="4178520"/>
            <a:ext cx="302904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 dirty="0">
                <a:solidFill>
                  <a:srgbClr val="282824"/>
                </a:solidFill>
                <a:latin typeface="Lato Bold"/>
                <a:ea typeface="Lato Bold"/>
              </a:rPr>
              <a:t>Pesquisa de Mercados</a:t>
            </a:r>
            <a:endParaRPr lang="pt-PT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4"/>
          <p:cNvSpPr/>
          <p:nvPr/>
        </p:nvSpPr>
        <p:spPr>
          <a:xfrm>
            <a:off x="7592400" y="4759920"/>
            <a:ext cx="624420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r>
              <a:rPr lang="pt-PT" dirty="0">
                <a:solidFill>
                  <a:schemeClr val="bg1">
                    <a:lumMod val="50000"/>
                  </a:schemeClr>
                </a:solidFill>
              </a:rPr>
              <a:t>Pesquisa de mercado sobre hospedagem e pet sitting</a:t>
            </a:r>
            <a:r>
              <a:rPr lang="pt-PT" sz="1600" dirty="0"/>
              <a:t>.</a:t>
            </a:r>
          </a:p>
        </p:txBody>
      </p:sp>
      <p:pic>
        <p:nvPicPr>
          <p:cNvPr id="344" name="Picture 343"/>
          <p:cNvPicPr/>
          <p:nvPr/>
        </p:nvPicPr>
        <p:blipFill>
          <a:blip r:embed="rId3"/>
          <a:stretch/>
        </p:blipFill>
        <p:spPr>
          <a:xfrm>
            <a:off x="12916080" y="0"/>
            <a:ext cx="1714320" cy="1714320"/>
          </a:xfrm>
          <a:prstGeom prst="rect">
            <a:avLst/>
          </a:prstGeom>
          <a:ln w="0">
            <a:noFill/>
          </a:ln>
        </p:spPr>
      </p:pic>
      <p:sp>
        <p:nvSpPr>
          <p:cNvPr id="2" name="Text 1">
            <a:extLst>
              <a:ext uri="{FF2B5EF4-FFF2-40B4-BE49-F238E27FC236}">
                <a16:creationId xmlns:a16="http://schemas.microsoft.com/office/drawing/2014/main" id="{8ADA6FF8-E534-4D67-EEF5-6F2D8BAE680D}"/>
              </a:ext>
            </a:extLst>
          </p:cNvPr>
          <p:cNvSpPr/>
          <p:nvPr/>
        </p:nvSpPr>
        <p:spPr>
          <a:xfrm>
            <a:off x="793800" y="59169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 dirty="0">
                <a:solidFill>
                  <a:srgbClr val="282824"/>
                </a:solidFill>
                <a:latin typeface="Lato Bold"/>
                <a:ea typeface="Lato Bold"/>
              </a:rPr>
              <a:t>Analise de </a:t>
            </a:r>
            <a:r>
              <a:rPr lang="en-US" sz="2200" b="1" strike="noStrike" spc="-1" dirty="0" err="1">
                <a:solidFill>
                  <a:srgbClr val="282824"/>
                </a:solidFill>
                <a:latin typeface="Lato Bold"/>
                <a:ea typeface="Lato Bold"/>
              </a:rPr>
              <a:t>Soluções</a:t>
            </a:r>
            <a:endParaRPr lang="pt-PT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2EDA145-0DD3-C05C-624F-03E1E88AABD6}"/>
              </a:ext>
            </a:extLst>
          </p:cNvPr>
          <p:cNvSpPr/>
          <p:nvPr/>
        </p:nvSpPr>
        <p:spPr>
          <a:xfrm>
            <a:off x="7599599" y="5914860"/>
            <a:ext cx="3790643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 dirty="0" err="1">
                <a:solidFill>
                  <a:srgbClr val="000000"/>
                </a:solidFill>
                <a:latin typeface="Arial"/>
              </a:rPr>
              <a:t>Consolidação</a:t>
            </a:r>
            <a:r>
              <a:rPr lang="en-US" sz="2200" b="1" strike="noStrike" spc="-1" dirty="0">
                <a:solidFill>
                  <a:srgbClr val="000000"/>
                </a:solidFill>
                <a:latin typeface="Arial"/>
              </a:rPr>
              <a:t> de </a:t>
            </a:r>
            <a:r>
              <a:rPr lang="en-US" sz="2200" b="1" strike="noStrike" spc="-1" dirty="0" err="1">
                <a:solidFill>
                  <a:srgbClr val="000000"/>
                </a:solidFill>
                <a:latin typeface="Arial"/>
              </a:rPr>
              <a:t>Requesitos</a:t>
            </a:r>
            <a:endParaRPr lang="pt-PT" sz="2200" b="1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2CBD19E-6997-6F56-ADAA-221126A98BA6}"/>
              </a:ext>
            </a:extLst>
          </p:cNvPr>
          <p:cNvSpPr/>
          <p:nvPr/>
        </p:nvSpPr>
        <p:spPr>
          <a:xfrm>
            <a:off x="793800" y="6579660"/>
            <a:ext cx="624420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r>
              <a:rPr lang="pt-PT" dirty="0">
                <a:solidFill>
                  <a:schemeClr val="bg1">
                    <a:lumMod val="50000"/>
                  </a:schemeClr>
                </a:solidFill>
              </a:rPr>
              <a:t>Análise de soluções existentes e identificação de lacunas.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BA0AB31-284A-AF7F-8D9B-114C662A58AE}"/>
              </a:ext>
            </a:extLst>
          </p:cNvPr>
          <p:cNvSpPr/>
          <p:nvPr/>
        </p:nvSpPr>
        <p:spPr>
          <a:xfrm>
            <a:off x="7599600" y="6579660"/>
            <a:ext cx="624420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r>
              <a:rPr lang="pt-PT" dirty="0">
                <a:solidFill>
                  <a:schemeClr val="bg1">
                    <a:lumMod val="50000"/>
                  </a:schemeClr>
                </a:solidFill>
              </a:rPr>
              <a:t>Consolidação das necessidades dos utilizadores em requisitos.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A2F2AFC-FAC2-F044-E553-65C46E7C3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6080" y="7682514"/>
            <a:ext cx="1609950" cy="5430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Image 0" descr="preencoded.png"/>
          <p:cNvPicPr/>
          <p:nvPr/>
        </p:nvPicPr>
        <p:blipFill>
          <a:blip r:embed="rId3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346" name="Text 0"/>
          <p:cNvSpPr/>
          <p:nvPr/>
        </p:nvSpPr>
        <p:spPr>
          <a:xfrm>
            <a:off x="793800" y="2187000"/>
            <a:ext cx="5670360" cy="70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en-US" sz="4450" b="1" strike="noStrike" spc="-1" dirty="0" err="1">
                <a:solidFill>
                  <a:srgbClr val="282824"/>
                </a:solidFill>
                <a:latin typeface="Lato Bold"/>
                <a:ea typeface="Lato Bold"/>
              </a:rPr>
              <a:t>Resultados</a:t>
            </a:r>
            <a:endParaRPr lang="pt-PT" sz="44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1"/>
          <p:cNvSpPr/>
          <p:nvPr/>
        </p:nvSpPr>
        <p:spPr>
          <a:xfrm>
            <a:off x="793800" y="3490920"/>
            <a:ext cx="510120" cy="510120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2"/>
          <p:cNvSpPr/>
          <p:nvPr/>
        </p:nvSpPr>
        <p:spPr>
          <a:xfrm>
            <a:off x="950400" y="3575880"/>
            <a:ext cx="196920" cy="33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2650"/>
              </a:lnSpc>
              <a:tabLst>
                <a:tab pos="0" algn="l"/>
              </a:tabLst>
            </a:pPr>
            <a:r>
              <a:rPr lang="en-US" sz="2650" b="1" strike="noStrike" spc="-1">
                <a:solidFill>
                  <a:srgbClr val="4A4A45"/>
                </a:solidFill>
                <a:latin typeface="Lato Bold"/>
                <a:ea typeface="Lato Bold"/>
              </a:rPr>
              <a:t>1</a:t>
            </a:r>
            <a:endParaRPr lang="pt-PT" sz="2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3"/>
          <p:cNvSpPr/>
          <p:nvPr/>
        </p:nvSpPr>
        <p:spPr>
          <a:xfrm>
            <a:off x="1531080" y="34909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 dirty="0" err="1">
                <a:solidFill>
                  <a:srgbClr val="4A4A45"/>
                </a:solidFill>
                <a:latin typeface="Lato Bold"/>
                <a:ea typeface="Lato Bold"/>
              </a:rPr>
              <a:t>Comodidade</a:t>
            </a:r>
            <a:endParaRPr lang="pt-PT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4"/>
          <p:cNvSpPr/>
          <p:nvPr/>
        </p:nvSpPr>
        <p:spPr>
          <a:xfrm>
            <a:off x="1531079" y="3981600"/>
            <a:ext cx="3158151" cy="72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pt-PT" sz="1700" dirty="0">
                <a:solidFill>
                  <a:schemeClr val="bg1">
                    <a:lumMod val="50000"/>
                  </a:schemeClr>
                </a:solidFill>
              </a:rPr>
              <a:t>Necessidade de conveniência, segurança e preços acessíveis</a:t>
            </a:r>
            <a:r>
              <a:rPr lang="pt-PT" sz="1600" dirty="0"/>
              <a:t>.</a:t>
            </a:r>
          </a:p>
        </p:txBody>
      </p:sp>
      <p:sp>
        <p:nvSpPr>
          <p:cNvPr id="355" name="Shape 9"/>
          <p:cNvSpPr/>
          <p:nvPr/>
        </p:nvSpPr>
        <p:spPr>
          <a:xfrm>
            <a:off x="793800" y="5189400"/>
            <a:ext cx="510120" cy="510120"/>
          </a:xfrm>
          <a:prstGeom prst="roundRect">
            <a:avLst>
              <a:gd name="adj" fmla="val 6667"/>
            </a:avLst>
          </a:prstGeom>
          <a:solidFill>
            <a:srgbClr val="E5DF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 10"/>
          <p:cNvSpPr/>
          <p:nvPr/>
        </p:nvSpPr>
        <p:spPr>
          <a:xfrm>
            <a:off x="950400" y="5274360"/>
            <a:ext cx="196920" cy="33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2650"/>
              </a:lnSpc>
              <a:tabLst>
                <a:tab pos="0" algn="l"/>
              </a:tabLst>
            </a:pPr>
            <a:endParaRPr lang="pt-PT" sz="26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 11"/>
          <p:cNvSpPr/>
          <p:nvPr/>
        </p:nvSpPr>
        <p:spPr>
          <a:xfrm>
            <a:off x="1531080" y="5189400"/>
            <a:ext cx="283752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 dirty="0" err="1">
                <a:solidFill>
                  <a:srgbClr val="4A4A45"/>
                </a:solidFill>
                <a:latin typeface="Lato Bold"/>
                <a:ea typeface="Lato Bold"/>
              </a:rPr>
              <a:t>Centralização</a:t>
            </a:r>
            <a:endParaRPr lang="pt-PT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12"/>
          <p:cNvSpPr/>
          <p:nvPr/>
        </p:nvSpPr>
        <p:spPr>
          <a:xfrm>
            <a:off x="1531080" y="5679720"/>
            <a:ext cx="681912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pt-PT" sz="1700" dirty="0">
                <a:solidFill>
                  <a:schemeClr val="bg1">
                    <a:lumMod val="50000"/>
                  </a:schemeClr>
                </a:solidFill>
              </a:rPr>
              <a:t>Falta de um sistema eficiente e centralizado no mercado</a:t>
            </a:r>
            <a:r>
              <a:rPr lang="pt-PT" sz="1700" dirty="0"/>
              <a:t>.</a:t>
            </a:r>
          </a:p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strike="noStrike" spc="-1" dirty="0">
                <a:solidFill>
                  <a:srgbClr val="4A4A45"/>
                </a:solidFill>
                <a:latin typeface="Lato"/>
                <a:ea typeface="Lato"/>
              </a:rPr>
              <a:t>.</a:t>
            </a:r>
            <a:endParaRPr lang="pt-PT" sz="17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6"/>
          <p:cNvSpPr/>
          <p:nvPr/>
        </p:nvSpPr>
        <p:spPr>
          <a:xfrm>
            <a:off x="951231" y="5317020"/>
            <a:ext cx="196920" cy="33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2650"/>
              </a:lnSpc>
              <a:tabLst>
                <a:tab pos="0" algn="l"/>
              </a:tabLst>
            </a:pPr>
            <a:r>
              <a:rPr lang="en-US" sz="2650" b="1" strike="noStrike" spc="-1">
                <a:solidFill>
                  <a:srgbClr val="4A4A45"/>
                </a:solidFill>
                <a:latin typeface="Lato Bold"/>
                <a:ea typeface="Lato Bold"/>
              </a:rPr>
              <a:t>2</a:t>
            </a:r>
            <a:endParaRPr lang="pt-PT" sz="26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 descr="A person touching a virtual screen&#10;&#10;AI-generated content may be incorrect.">
            <a:extLst>
              <a:ext uri="{FF2B5EF4-FFF2-40B4-BE49-F238E27FC236}">
                <a16:creationId xmlns:a16="http://schemas.microsoft.com/office/drawing/2014/main" id="{5CF8553B-62F0-0595-EE9F-B81AB14FB3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1" r="30174"/>
          <a:stretch/>
        </p:blipFill>
        <p:spPr>
          <a:xfrm>
            <a:off x="8780584" y="0"/>
            <a:ext cx="5849455" cy="84937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7">
            <a:extLst>
              <a:ext uri="{FF2B5EF4-FFF2-40B4-BE49-F238E27FC236}">
                <a16:creationId xmlns:a16="http://schemas.microsoft.com/office/drawing/2014/main" id="{64BA221B-0819-6F8D-8C65-CC1E2F1DE0BD}"/>
              </a:ext>
            </a:extLst>
          </p:cNvPr>
          <p:cNvSpPr/>
          <p:nvPr/>
        </p:nvSpPr>
        <p:spPr>
          <a:xfrm>
            <a:off x="5216940" y="5221800"/>
            <a:ext cx="4196160" cy="1669320"/>
          </a:xfrm>
          <a:prstGeom prst="roundRect">
            <a:avLst>
              <a:gd name="adj" fmla="val 2038"/>
            </a:avLst>
          </a:prstGeom>
          <a:solidFill>
            <a:srgbClr val="E5DF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 0"/>
          <p:cNvSpPr/>
          <p:nvPr/>
        </p:nvSpPr>
        <p:spPr>
          <a:xfrm>
            <a:off x="793800" y="4173120"/>
            <a:ext cx="6606000" cy="70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en-US" sz="4450" b="1" strike="noStrike" spc="-1" dirty="0" err="1">
                <a:solidFill>
                  <a:srgbClr val="282824"/>
                </a:solidFill>
                <a:latin typeface="Lato Bold"/>
                <a:ea typeface="Lato Bold"/>
              </a:rPr>
              <a:t>Atores</a:t>
            </a:r>
            <a:endParaRPr lang="pt-PT" sz="44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1"/>
          <p:cNvSpPr/>
          <p:nvPr/>
        </p:nvSpPr>
        <p:spPr>
          <a:xfrm>
            <a:off x="793800" y="5221800"/>
            <a:ext cx="4196160" cy="1669320"/>
          </a:xfrm>
          <a:prstGeom prst="roundRect">
            <a:avLst>
              <a:gd name="adj" fmla="val 2038"/>
            </a:avLst>
          </a:prstGeom>
          <a:solidFill>
            <a:srgbClr val="E5DF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2"/>
          <p:cNvSpPr/>
          <p:nvPr/>
        </p:nvSpPr>
        <p:spPr>
          <a:xfrm>
            <a:off x="1020600" y="544860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 dirty="0" err="1">
                <a:solidFill>
                  <a:srgbClr val="4A4A45"/>
                </a:solidFill>
                <a:latin typeface="Lato Bold"/>
                <a:ea typeface="Lato Bold"/>
              </a:rPr>
              <a:t>Clientes</a:t>
            </a:r>
            <a:endParaRPr lang="pt-PT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3"/>
          <p:cNvSpPr/>
          <p:nvPr/>
        </p:nvSpPr>
        <p:spPr>
          <a:xfrm>
            <a:off x="1020600" y="5939280"/>
            <a:ext cx="3742200" cy="72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Procurar, agendar e avaliar serviços</a:t>
            </a:r>
            <a:r>
              <a:rPr lang="pt-PT" sz="1600" dirty="0"/>
              <a:t>.</a:t>
            </a:r>
          </a:p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strike="noStrike" spc="-1" dirty="0">
                <a:solidFill>
                  <a:srgbClr val="4A4A45"/>
                </a:solidFill>
                <a:latin typeface="Lato"/>
                <a:ea typeface="Lato"/>
              </a:rPr>
              <a:t>.</a:t>
            </a:r>
            <a:endParaRPr lang="pt-PT" sz="17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 5"/>
          <p:cNvSpPr/>
          <p:nvPr/>
        </p:nvSpPr>
        <p:spPr>
          <a:xfrm>
            <a:off x="5443920" y="5448600"/>
            <a:ext cx="302904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 dirty="0" err="1">
                <a:solidFill>
                  <a:srgbClr val="4A4A45"/>
                </a:solidFill>
                <a:latin typeface="Lato Bold"/>
                <a:ea typeface="Lato Bold"/>
              </a:rPr>
              <a:t>Prestadores</a:t>
            </a:r>
            <a:r>
              <a:rPr lang="en-US" sz="2200" b="1" strike="noStrike" spc="-1" dirty="0">
                <a:solidFill>
                  <a:srgbClr val="4A4A45"/>
                </a:solidFill>
                <a:latin typeface="Lato Bold"/>
                <a:ea typeface="Lato Bold"/>
              </a:rPr>
              <a:t> de Serviços</a:t>
            </a:r>
            <a:endParaRPr lang="pt-PT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6"/>
          <p:cNvSpPr/>
          <p:nvPr/>
        </p:nvSpPr>
        <p:spPr>
          <a:xfrm>
            <a:off x="5443920" y="5939280"/>
            <a:ext cx="3742200" cy="72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Disponibilizar e gerir serviços.</a:t>
            </a:r>
          </a:p>
        </p:txBody>
      </p:sp>
      <p:sp>
        <p:nvSpPr>
          <p:cNvPr id="366" name="Shape 7"/>
          <p:cNvSpPr/>
          <p:nvPr/>
        </p:nvSpPr>
        <p:spPr>
          <a:xfrm>
            <a:off x="9640080" y="5221800"/>
            <a:ext cx="4196160" cy="1669320"/>
          </a:xfrm>
          <a:prstGeom prst="roundRect">
            <a:avLst>
              <a:gd name="adj" fmla="val 2038"/>
            </a:avLst>
          </a:prstGeom>
          <a:solidFill>
            <a:srgbClr val="E5DF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8"/>
          <p:cNvSpPr/>
          <p:nvPr/>
        </p:nvSpPr>
        <p:spPr>
          <a:xfrm>
            <a:off x="9866880" y="544860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 dirty="0" err="1">
                <a:solidFill>
                  <a:srgbClr val="4A4A45"/>
                </a:solidFill>
                <a:latin typeface="Lato Bold"/>
                <a:ea typeface="Lato Bold"/>
              </a:rPr>
              <a:t>Suporte</a:t>
            </a:r>
            <a:endParaRPr lang="pt-PT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 9"/>
          <p:cNvSpPr/>
          <p:nvPr/>
        </p:nvSpPr>
        <p:spPr>
          <a:xfrm>
            <a:off x="9866880" y="5939280"/>
            <a:ext cx="3742200" cy="72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pt-PT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Manutenção e suporte da aplicação</a:t>
            </a:r>
          </a:p>
        </p:txBody>
      </p:sp>
      <p:pic>
        <p:nvPicPr>
          <p:cNvPr id="369" name="Picture 368"/>
          <p:cNvPicPr/>
          <p:nvPr/>
        </p:nvPicPr>
        <p:blipFill>
          <a:blip r:embed="rId3"/>
          <a:stretch/>
        </p:blipFill>
        <p:spPr>
          <a:xfrm>
            <a:off x="12865680" y="6515280"/>
            <a:ext cx="1714320" cy="1714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hape 0"/>
          <p:cNvSpPr/>
          <p:nvPr/>
        </p:nvSpPr>
        <p:spPr>
          <a:xfrm>
            <a:off x="0" y="0"/>
            <a:ext cx="14940000" cy="2835000"/>
          </a:xfrm>
          <a:prstGeom prst="rect">
            <a:avLst/>
          </a:prstGeom>
          <a:solidFill>
            <a:srgbClr val="E5E0D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1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14630040" cy="360"/>
          </a:xfrm>
          <a:prstGeom prst="rect">
            <a:avLst/>
          </a:prstGeom>
          <a:ln w="0">
            <a:noFill/>
          </a:ln>
        </p:spPr>
      </p:pic>
      <p:sp>
        <p:nvSpPr>
          <p:cNvPr id="372" name="Text 1"/>
          <p:cNvSpPr/>
          <p:nvPr/>
        </p:nvSpPr>
        <p:spPr>
          <a:xfrm>
            <a:off x="629640" y="540000"/>
            <a:ext cx="5670360" cy="70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en-US" sz="4450" b="1" strike="noStrike" spc="-1" dirty="0">
                <a:solidFill>
                  <a:srgbClr val="282824"/>
                </a:solidFill>
                <a:latin typeface="Lato Bold"/>
                <a:ea typeface="Lato Bold"/>
              </a:rPr>
              <a:t>Casos de </a:t>
            </a:r>
            <a:r>
              <a:rPr lang="en-US" sz="4450" b="1" strike="noStrike" spc="-1" dirty="0" err="1">
                <a:solidFill>
                  <a:srgbClr val="282824"/>
                </a:solidFill>
                <a:latin typeface="Lato Bold"/>
                <a:ea typeface="Lato Bold"/>
              </a:rPr>
              <a:t>Utilização</a:t>
            </a:r>
            <a:endParaRPr lang="pt-PT" sz="445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5550"/>
              </a:lnSpc>
              <a:tabLst>
                <a:tab pos="0" algn="l"/>
              </a:tabLst>
            </a:pPr>
            <a:endParaRPr lang="pt-PT" sz="44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 2"/>
          <p:cNvSpPr/>
          <p:nvPr/>
        </p:nvSpPr>
        <p:spPr>
          <a:xfrm>
            <a:off x="900000" y="48661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 dirty="0" err="1">
                <a:solidFill>
                  <a:srgbClr val="4A4A45"/>
                </a:solidFill>
                <a:latin typeface="Lato Bold"/>
                <a:ea typeface="Lato Bold"/>
              </a:rPr>
              <a:t>Controlo</a:t>
            </a:r>
            <a:r>
              <a:rPr lang="en-US" sz="2200" b="1" strike="noStrike" spc="-1" dirty="0">
                <a:solidFill>
                  <a:srgbClr val="4A4A45"/>
                </a:solidFill>
                <a:latin typeface="Lato Bold"/>
                <a:ea typeface="Lato Bold"/>
              </a:rPr>
              <a:t> de </a:t>
            </a:r>
            <a:r>
              <a:rPr lang="en-US" sz="2200" b="1" strike="noStrike" spc="-1" dirty="0" err="1">
                <a:solidFill>
                  <a:srgbClr val="4A4A45"/>
                </a:solidFill>
                <a:latin typeface="Lato Bold"/>
                <a:ea typeface="Lato Bold"/>
              </a:rPr>
              <a:t>serviços</a:t>
            </a:r>
            <a:endParaRPr lang="pt-PT" sz="2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3"/>
          <p:cNvSpPr/>
          <p:nvPr/>
        </p:nvSpPr>
        <p:spPr>
          <a:xfrm>
            <a:off x="900000" y="5400000"/>
            <a:ext cx="4120560" cy="36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strike="noStrike" spc="-1" dirty="0" err="1">
                <a:solidFill>
                  <a:srgbClr val="4A4A45"/>
                </a:solidFill>
                <a:latin typeface="Lato"/>
                <a:ea typeface="Lato"/>
              </a:rPr>
              <a:t>Edição</a:t>
            </a:r>
            <a:r>
              <a:rPr lang="en-US" sz="1750" spc="-1" dirty="0">
                <a:solidFill>
                  <a:srgbClr val="4A4A45"/>
                </a:solidFill>
                <a:latin typeface="Lato"/>
                <a:ea typeface="Lato"/>
              </a:rPr>
              <a:t>, </a:t>
            </a:r>
            <a:r>
              <a:rPr lang="en-US" sz="1750" spc="-1" dirty="0" err="1">
                <a:solidFill>
                  <a:srgbClr val="4A4A45"/>
                </a:solidFill>
                <a:latin typeface="Lato"/>
                <a:ea typeface="Lato"/>
              </a:rPr>
              <a:t>adição</a:t>
            </a:r>
            <a:r>
              <a:rPr lang="en-US" sz="1750" spc="-1" dirty="0">
                <a:solidFill>
                  <a:srgbClr val="4A4A45"/>
                </a:solidFill>
                <a:latin typeface="Lato"/>
                <a:ea typeface="Lato"/>
              </a:rPr>
              <a:t> e </a:t>
            </a:r>
            <a:r>
              <a:rPr lang="en-US" sz="1750" spc="-1" dirty="0" err="1">
                <a:solidFill>
                  <a:srgbClr val="4A4A45"/>
                </a:solidFill>
                <a:latin typeface="Lato"/>
                <a:ea typeface="Lato"/>
              </a:rPr>
              <a:t>remoção</a:t>
            </a:r>
            <a:r>
              <a:rPr lang="en-US" sz="1750" spc="-1" dirty="0">
                <a:solidFill>
                  <a:srgbClr val="4A4A45"/>
                </a:solidFill>
                <a:latin typeface="Lato"/>
                <a:ea typeface="Lato"/>
              </a:rPr>
              <a:t> de </a:t>
            </a:r>
            <a:r>
              <a:rPr lang="en-US" sz="1750" spc="-1" dirty="0" err="1">
                <a:solidFill>
                  <a:srgbClr val="4A4A45"/>
                </a:solidFill>
                <a:latin typeface="Lato"/>
                <a:ea typeface="Lato"/>
              </a:rPr>
              <a:t>serviços</a:t>
            </a:r>
            <a:r>
              <a:rPr lang="en-US" sz="1750" spc="-1" dirty="0">
                <a:solidFill>
                  <a:srgbClr val="4A4A45"/>
                </a:solidFill>
                <a:latin typeface="Lato"/>
                <a:ea typeface="Lato"/>
              </a:rPr>
              <a:t> </a:t>
            </a:r>
            <a:r>
              <a:rPr lang="en-US" sz="1750" b="0" strike="noStrike" spc="-1" dirty="0">
                <a:solidFill>
                  <a:srgbClr val="4A4A45"/>
                </a:solidFill>
                <a:latin typeface="Lato"/>
                <a:ea typeface="Lato"/>
              </a:rPr>
              <a:t>.</a:t>
            </a:r>
            <a:endParaRPr lang="pt-PT" sz="175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6" name="Image 2" descr="preencoded.png"/>
          <p:cNvPicPr/>
          <p:nvPr/>
        </p:nvPicPr>
        <p:blipFill>
          <a:blip r:embed="rId4"/>
          <a:stretch/>
        </p:blipFill>
        <p:spPr>
          <a:xfrm>
            <a:off x="5220000" y="3960000"/>
            <a:ext cx="566640" cy="566640"/>
          </a:xfrm>
          <a:prstGeom prst="rect">
            <a:avLst/>
          </a:prstGeom>
          <a:ln w="0">
            <a:noFill/>
          </a:ln>
        </p:spPr>
      </p:pic>
      <p:sp>
        <p:nvSpPr>
          <p:cNvPr id="377" name="Text 4"/>
          <p:cNvSpPr/>
          <p:nvPr/>
        </p:nvSpPr>
        <p:spPr>
          <a:xfrm>
            <a:off x="5265000" y="486000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4A4A45"/>
                </a:solidFill>
                <a:latin typeface="Lato Bold"/>
                <a:ea typeface="Lato Bold"/>
              </a:rPr>
              <a:t>Pesquisar Serviços</a:t>
            </a:r>
            <a:endParaRPr lang="pt-PT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 5"/>
          <p:cNvSpPr/>
          <p:nvPr/>
        </p:nvSpPr>
        <p:spPr>
          <a:xfrm>
            <a:off x="5239440" y="5400000"/>
            <a:ext cx="4120560" cy="72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strike="noStrike" spc="-1">
                <a:solidFill>
                  <a:srgbClr val="4A4A45"/>
                </a:solidFill>
                <a:latin typeface="Lato"/>
                <a:ea typeface="Lato"/>
              </a:rPr>
              <a:t>Por localização, tipo de serviço e avaliações.</a:t>
            </a:r>
            <a:endParaRPr lang="pt-PT" sz="17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9" name="Image 3" descr="preencoded.png"/>
          <p:cNvPicPr/>
          <p:nvPr/>
        </p:nvPicPr>
        <p:blipFill>
          <a:blip r:embed="rId5"/>
          <a:stretch/>
        </p:blipFill>
        <p:spPr>
          <a:xfrm>
            <a:off x="9693360" y="3960000"/>
            <a:ext cx="566640" cy="566640"/>
          </a:xfrm>
          <a:prstGeom prst="rect">
            <a:avLst/>
          </a:prstGeom>
          <a:ln w="0">
            <a:noFill/>
          </a:ln>
        </p:spPr>
      </p:pic>
      <p:sp>
        <p:nvSpPr>
          <p:cNvPr id="380" name="Text 6"/>
          <p:cNvSpPr/>
          <p:nvPr/>
        </p:nvSpPr>
        <p:spPr>
          <a:xfrm>
            <a:off x="9720000" y="486000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4A4A45"/>
                </a:solidFill>
                <a:latin typeface="Lato Bold"/>
                <a:ea typeface="Lato Bold"/>
              </a:rPr>
              <a:t>Agendar Serviços</a:t>
            </a:r>
            <a:endParaRPr lang="pt-PT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 7"/>
          <p:cNvSpPr/>
          <p:nvPr/>
        </p:nvSpPr>
        <p:spPr>
          <a:xfrm>
            <a:off x="9720000" y="5394600"/>
            <a:ext cx="4120560" cy="72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strike="noStrike" spc="-1">
                <a:solidFill>
                  <a:srgbClr val="4A4A45"/>
                </a:solidFill>
                <a:latin typeface="Lato"/>
                <a:ea typeface="Lato"/>
              </a:rPr>
              <a:t>Reserva online com diferentes opções de pagamento.</a:t>
            </a:r>
            <a:endParaRPr lang="pt-PT" sz="17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2" name="Picture 381"/>
          <p:cNvPicPr/>
          <p:nvPr/>
        </p:nvPicPr>
        <p:blipFill>
          <a:blip r:embed="rId6"/>
          <a:stretch/>
        </p:blipFill>
        <p:spPr>
          <a:xfrm>
            <a:off x="12830400" y="6480000"/>
            <a:ext cx="1749600" cy="1749600"/>
          </a:xfrm>
          <a:prstGeom prst="rect">
            <a:avLst/>
          </a:prstGeom>
          <a:ln w="0">
            <a:noFill/>
          </a:ln>
        </p:spPr>
      </p:pic>
      <p:pic>
        <p:nvPicPr>
          <p:cNvPr id="3" name="Picture 2" descr="A black phone and a clock&#10;&#10;AI-generated content may be incorrect.">
            <a:extLst>
              <a:ext uri="{FF2B5EF4-FFF2-40B4-BE49-F238E27FC236}">
                <a16:creationId xmlns:a16="http://schemas.microsoft.com/office/drawing/2014/main" id="{3A87F019-28A0-4A4E-06F0-41612655F01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26667" y1="23333" x2="27222" y2="23611"/>
                        <a14:foregroundMark x1="37500" y1="31111" x2="38611" y2="31111"/>
                        <a14:foregroundMark x1="55833" y1="45000" x2="56111" y2="4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999" y="3892030"/>
            <a:ext cx="741231" cy="7412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Picture 383"/>
          <p:cNvPicPr/>
          <p:nvPr/>
        </p:nvPicPr>
        <p:blipFill>
          <a:blip r:embed="rId2"/>
          <a:stretch/>
        </p:blipFill>
        <p:spPr>
          <a:xfrm>
            <a:off x="12830400" y="6480000"/>
            <a:ext cx="1749600" cy="1749600"/>
          </a:xfrm>
          <a:prstGeom prst="rect">
            <a:avLst/>
          </a:prstGeom>
          <a:ln w="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3085DD-9A32-4A70-C5B1-2E59933BA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1865" y="246185"/>
            <a:ext cx="8039520" cy="78079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14630040" cy="2524680"/>
          </a:xfrm>
          <a:prstGeom prst="rect">
            <a:avLst/>
          </a:prstGeom>
          <a:ln w="0">
            <a:noFill/>
          </a:ln>
        </p:spPr>
      </p:pic>
      <p:sp>
        <p:nvSpPr>
          <p:cNvPr id="388" name="Text 0"/>
          <p:cNvSpPr/>
          <p:nvPr/>
        </p:nvSpPr>
        <p:spPr>
          <a:xfrm>
            <a:off x="707040" y="3241080"/>
            <a:ext cx="5249880" cy="63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4949"/>
              </a:lnSpc>
              <a:tabLst>
                <a:tab pos="0" algn="l"/>
              </a:tabLst>
            </a:pPr>
            <a:r>
              <a:rPr lang="en-US" sz="3950" b="1" strike="noStrike" spc="-1" dirty="0" err="1">
                <a:solidFill>
                  <a:srgbClr val="282824"/>
                </a:solidFill>
                <a:latin typeface="Lato Bold"/>
                <a:ea typeface="Lato Bold"/>
              </a:rPr>
              <a:t>Requesitos</a:t>
            </a:r>
            <a:r>
              <a:rPr lang="en-US" sz="3950" b="1" strike="noStrike" spc="-1" dirty="0">
                <a:solidFill>
                  <a:srgbClr val="282824"/>
                </a:solidFill>
                <a:latin typeface="Lato Bold"/>
                <a:ea typeface="Lato Bold"/>
              </a:rPr>
              <a:t> </a:t>
            </a:r>
            <a:r>
              <a:rPr lang="en-US" sz="3950" b="1" strike="noStrike" spc="-1" dirty="0" err="1">
                <a:solidFill>
                  <a:srgbClr val="282824"/>
                </a:solidFill>
                <a:latin typeface="Lato Bold"/>
                <a:ea typeface="Lato Bold"/>
              </a:rPr>
              <a:t>Não-Funcionais</a:t>
            </a:r>
            <a:endParaRPr lang="pt-PT" sz="39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1"/>
          <p:cNvSpPr/>
          <p:nvPr/>
        </p:nvSpPr>
        <p:spPr>
          <a:xfrm>
            <a:off x="707040" y="5844600"/>
            <a:ext cx="13215960" cy="22680"/>
          </a:xfrm>
          <a:prstGeom prst="roundRect">
            <a:avLst>
              <a:gd name="adj" fmla="val 132557"/>
            </a:avLst>
          </a:prstGeom>
          <a:solidFill>
            <a:srgbClr val="CBC5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2"/>
          <p:cNvSpPr/>
          <p:nvPr/>
        </p:nvSpPr>
        <p:spPr>
          <a:xfrm>
            <a:off x="3949200" y="5137560"/>
            <a:ext cx="22680" cy="706680"/>
          </a:xfrm>
          <a:prstGeom prst="roundRect">
            <a:avLst>
              <a:gd name="adj" fmla="val 132557"/>
            </a:avLst>
          </a:prstGeom>
          <a:solidFill>
            <a:srgbClr val="CBC5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3"/>
          <p:cNvSpPr/>
          <p:nvPr/>
        </p:nvSpPr>
        <p:spPr>
          <a:xfrm>
            <a:off x="3733200" y="5617440"/>
            <a:ext cx="453960" cy="453960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4"/>
          <p:cNvSpPr/>
          <p:nvPr/>
        </p:nvSpPr>
        <p:spPr>
          <a:xfrm>
            <a:off x="3872520" y="5693040"/>
            <a:ext cx="1753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2350"/>
              </a:lnSpc>
              <a:tabLst>
                <a:tab pos="0" algn="l"/>
              </a:tabLst>
            </a:pPr>
            <a:endParaRPr lang="pt-PT" sz="23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 5"/>
          <p:cNvSpPr/>
          <p:nvPr/>
        </p:nvSpPr>
        <p:spPr>
          <a:xfrm>
            <a:off x="2697840" y="4175280"/>
            <a:ext cx="2524680" cy="31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2449"/>
              </a:lnSpc>
              <a:tabLst>
                <a:tab pos="0" algn="l"/>
              </a:tabLst>
            </a:pPr>
            <a:r>
              <a:rPr lang="en-US" sz="1950" b="1" strike="noStrike" spc="-1" dirty="0" err="1">
                <a:solidFill>
                  <a:srgbClr val="4A4A45"/>
                </a:solidFill>
                <a:latin typeface="Lato Bold"/>
                <a:ea typeface="Lato Bold"/>
              </a:rPr>
              <a:t>Requisitos</a:t>
            </a:r>
            <a:r>
              <a:rPr lang="en-US" sz="1950" b="1" strike="noStrike" spc="-1" dirty="0">
                <a:solidFill>
                  <a:srgbClr val="4A4A45"/>
                </a:solidFill>
                <a:latin typeface="Lato Bold"/>
                <a:ea typeface="Lato Bold"/>
              </a:rPr>
              <a:t> de </a:t>
            </a:r>
            <a:r>
              <a:rPr lang="en-US" sz="1950" b="1" strike="noStrike" spc="-1" dirty="0" err="1">
                <a:solidFill>
                  <a:srgbClr val="4A4A45"/>
                </a:solidFill>
                <a:latin typeface="Lato Bold"/>
                <a:ea typeface="Lato Bold"/>
              </a:rPr>
              <a:t>Usabilidade</a:t>
            </a:r>
            <a:endParaRPr lang="pt-PT" sz="19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 6"/>
          <p:cNvSpPr/>
          <p:nvPr/>
        </p:nvSpPr>
        <p:spPr>
          <a:xfrm>
            <a:off x="909000" y="4612320"/>
            <a:ext cx="61030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2500"/>
              </a:lnSpc>
              <a:tabLst>
                <a:tab pos="0" algn="l"/>
              </a:tabLst>
            </a:pPr>
            <a:r>
              <a:rPr lang="pt-PT" sz="1550" b="0" strike="noStrike" spc="-1" dirty="0">
                <a:solidFill>
                  <a:srgbClr val="4A4A45"/>
                </a:solidFill>
                <a:latin typeface="Lato"/>
                <a:ea typeface="Lato"/>
              </a:rPr>
              <a:t>Pesquisa rápida por localização e avaliações</a:t>
            </a:r>
            <a:r>
              <a:rPr lang="en-US" sz="1550" b="0" strike="noStrike" spc="-1" dirty="0">
                <a:solidFill>
                  <a:srgbClr val="4A4A45"/>
                </a:solidFill>
                <a:latin typeface="Lato"/>
                <a:ea typeface="Lato"/>
              </a:rPr>
              <a:t>.</a:t>
            </a:r>
            <a:endParaRPr lang="pt-PT" sz="15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7"/>
          <p:cNvSpPr/>
          <p:nvPr/>
        </p:nvSpPr>
        <p:spPr>
          <a:xfrm>
            <a:off x="7303680" y="5844600"/>
            <a:ext cx="22680" cy="706680"/>
          </a:xfrm>
          <a:prstGeom prst="roundRect">
            <a:avLst>
              <a:gd name="adj" fmla="val 132557"/>
            </a:avLst>
          </a:prstGeom>
          <a:solidFill>
            <a:srgbClr val="CBC5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8"/>
          <p:cNvSpPr/>
          <p:nvPr/>
        </p:nvSpPr>
        <p:spPr>
          <a:xfrm>
            <a:off x="7088040" y="5617440"/>
            <a:ext cx="453960" cy="453960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 10"/>
          <p:cNvSpPr/>
          <p:nvPr/>
        </p:nvSpPr>
        <p:spPr>
          <a:xfrm>
            <a:off x="6052680" y="6753600"/>
            <a:ext cx="2524680" cy="31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2449"/>
              </a:lnSpc>
              <a:tabLst>
                <a:tab pos="0" algn="l"/>
              </a:tabLst>
            </a:pPr>
            <a:r>
              <a:rPr lang="en-US" sz="1950" b="1" strike="noStrike" spc="-1" dirty="0" err="1">
                <a:solidFill>
                  <a:srgbClr val="4A4A45"/>
                </a:solidFill>
                <a:latin typeface="Lato Bold"/>
                <a:ea typeface="Lato Bold"/>
              </a:rPr>
              <a:t>Requisitos</a:t>
            </a:r>
            <a:r>
              <a:rPr lang="en-US" sz="1950" b="1" strike="noStrike" spc="-1" dirty="0">
                <a:solidFill>
                  <a:srgbClr val="4A4A45"/>
                </a:solidFill>
                <a:latin typeface="Lato Bold"/>
                <a:ea typeface="Lato Bold"/>
              </a:rPr>
              <a:t> de </a:t>
            </a:r>
            <a:r>
              <a:rPr lang="en-US" sz="1950" b="1" strike="noStrike" spc="-1" dirty="0" err="1">
                <a:solidFill>
                  <a:srgbClr val="4A4A45"/>
                </a:solidFill>
                <a:latin typeface="Lato Bold"/>
                <a:ea typeface="Lato Bold"/>
              </a:rPr>
              <a:t>Usabilidade</a:t>
            </a:r>
            <a:endParaRPr lang="pt-PT" sz="19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 11"/>
          <p:cNvSpPr/>
          <p:nvPr/>
        </p:nvSpPr>
        <p:spPr>
          <a:xfrm>
            <a:off x="4263480" y="7190280"/>
            <a:ext cx="61030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2500"/>
              </a:lnSpc>
              <a:tabLst>
                <a:tab pos="0" algn="l"/>
              </a:tabLst>
            </a:pPr>
            <a:r>
              <a:rPr lang="en-US" sz="1550" b="0" strike="noStrike" spc="-1" dirty="0" err="1">
                <a:solidFill>
                  <a:srgbClr val="4A4A45"/>
                </a:solidFill>
                <a:latin typeface="Lato"/>
                <a:ea typeface="Lato"/>
              </a:rPr>
              <a:t>Avaliação</a:t>
            </a:r>
            <a:r>
              <a:rPr lang="en-US" sz="1550" b="0" strike="noStrike" spc="-1" dirty="0">
                <a:solidFill>
                  <a:srgbClr val="4A4A45"/>
                </a:solidFill>
                <a:latin typeface="Lato"/>
                <a:ea typeface="Lato"/>
              </a:rPr>
              <a:t> de </a:t>
            </a:r>
            <a:r>
              <a:rPr lang="en-US" sz="1550" b="0" strike="noStrike" spc="-1" dirty="0" err="1">
                <a:solidFill>
                  <a:srgbClr val="4A4A45"/>
                </a:solidFill>
                <a:latin typeface="Lato"/>
                <a:ea typeface="Lato"/>
              </a:rPr>
              <a:t>serviços</a:t>
            </a:r>
            <a:r>
              <a:rPr lang="en-US" sz="1550" b="0" strike="noStrike" spc="-1" dirty="0">
                <a:solidFill>
                  <a:srgbClr val="4A4A45"/>
                </a:solidFill>
                <a:latin typeface="Lato"/>
                <a:ea typeface="Lato"/>
              </a:rPr>
              <a:t> </a:t>
            </a:r>
            <a:r>
              <a:rPr lang="en-US" sz="1550" b="0" strike="noStrike" spc="-1" dirty="0" err="1">
                <a:solidFill>
                  <a:srgbClr val="4A4A45"/>
                </a:solidFill>
                <a:latin typeface="Lato"/>
                <a:ea typeface="Lato"/>
              </a:rPr>
              <a:t>após</a:t>
            </a:r>
            <a:r>
              <a:rPr lang="en-US" sz="1550" b="0" strike="noStrike" spc="-1" dirty="0">
                <a:solidFill>
                  <a:srgbClr val="4A4A45"/>
                </a:solidFill>
                <a:latin typeface="Lato"/>
                <a:ea typeface="Lato"/>
              </a:rPr>
              <a:t> da </a:t>
            </a:r>
            <a:r>
              <a:rPr lang="en-US" sz="1550" b="0" strike="noStrike" spc="-1" dirty="0" err="1">
                <a:solidFill>
                  <a:srgbClr val="4A4A45"/>
                </a:solidFill>
                <a:latin typeface="Lato"/>
                <a:ea typeface="Lato"/>
              </a:rPr>
              <a:t>prestação</a:t>
            </a:r>
            <a:r>
              <a:rPr lang="en-US" sz="1550" b="0" strike="noStrike" spc="-1" dirty="0">
                <a:solidFill>
                  <a:srgbClr val="4A4A45"/>
                </a:solidFill>
                <a:latin typeface="Lato"/>
                <a:ea typeface="Lato"/>
              </a:rPr>
              <a:t> do </a:t>
            </a:r>
            <a:r>
              <a:rPr lang="en-US" sz="1550" b="0" strike="noStrike" spc="-1" dirty="0" err="1">
                <a:solidFill>
                  <a:srgbClr val="4A4A45"/>
                </a:solidFill>
                <a:latin typeface="Lato"/>
                <a:ea typeface="Lato"/>
              </a:rPr>
              <a:t>mesmo</a:t>
            </a:r>
            <a:r>
              <a:rPr lang="en-US" sz="1550" b="0" strike="noStrike" spc="-1" dirty="0">
                <a:solidFill>
                  <a:srgbClr val="4A4A45"/>
                </a:solidFill>
                <a:latin typeface="Lato"/>
                <a:ea typeface="Lato"/>
              </a:rPr>
              <a:t>.</a:t>
            </a:r>
            <a:endParaRPr lang="pt-PT" sz="15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12"/>
          <p:cNvSpPr/>
          <p:nvPr/>
        </p:nvSpPr>
        <p:spPr>
          <a:xfrm>
            <a:off x="10658160" y="5137560"/>
            <a:ext cx="22680" cy="706680"/>
          </a:xfrm>
          <a:prstGeom prst="roundRect">
            <a:avLst>
              <a:gd name="adj" fmla="val 132557"/>
            </a:avLst>
          </a:prstGeom>
          <a:solidFill>
            <a:srgbClr val="CBC5B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13"/>
          <p:cNvSpPr/>
          <p:nvPr/>
        </p:nvSpPr>
        <p:spPr>
          <a:xfrm>
            <a:off x="10442520" y="5617440"/>
            <a:ext cx="453960" cy="453960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PT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 15"/>
          <p:cNvSpPr/>
          <p:nvPr/>
        </p:nvSpPr>
        <p:spPr>
          <a:xfrm>
            <a:off x="9407160" y="4175280"/>
            <a:ext cx="2524680" cy="31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2449"/>
              </a:lnSpc>
              <a:tabLst>
                <a:tab pos="0" algn="l"/>
              </a:tabLst>
            </a:pPr>
            <a:r>
              <a:rPr lang="en-US" sz="1950" b="1" strike="noStrike" spc="-1" dirty="0" err="1">
                <a:solidFill>
                  <a:srgbClr val="4A4A45"/>
                </a:solidFill>
                <a:latin typeface="Lato Bold"/>
                <a:ea typeface="Lato Bold"/>
              </a:rPr>
              <a:t>Requisitos</a:t>
            </a:r>
            <a:r>
              <a:rPr lang="en-US" sz="1950" b="1" strike="noStrike" spc="-1" dirty="0">
                <a:solidFill>
                  <a:srgbClr val="4A4A45"/>
                </a:solidFill>
                <a:latin typeface="Lato Bold"/>
                <a:ea typeface="Lato Bold"/>
              </a:rPr>
              <a:t> de </a:t>
            </a:r>
            <a:r>
              <a:rPr lang="en-US" sz="1950" b="1" strike="noStrike" spc="-1" dirty="0" err="1">
                <a:solidFill>
                  <a:srgbClr val="4A4A45"/>
                </a:solidFill>
                <a:latin typeface="Lato Bold"/>
                <a:ea typeface="Lato Bold"/>
              </a:rPr>
              <a:t>Desempenho</a:t>
            </a:r>
            <a:endParaRPr lang="pt-PT" sz="19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16"/>
          <p:cNvSpPr/>
          <p:nvPr/>
        </p:nvSpPr>
        <p:spPr>
          <a:xfrm>
            <a:off x="7617960" y="4612320"/>
            <a:ext cx="6103080" cy="32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>
              <a:lnSpc>
                <a:spcPts val="2500"/>
              </a:lnSpc>
              <a:tabLst>
                <a:tab pos="0" algn="l"/>
              </a:tabLst>
            </a:pPr>
            <a:r>
              <a:rPr lang="pt-PT" sz="1550" b="0" strike="noStrike" spc="-1" dirty="0">
                <a:solidFill>
                  <a:srgbClr val="4A4A45"/>
                </a:solidFill>
                <a:latin typeface="Lato"/>
                <a:ea typeface="Lato"/>
              </a:rPr>
              <a:t>Confirmação de pagamento em menos de 1 minuto</a:t>
            </a:r>
            <a:r>
              <a:rPr lang="en-US" sz="1550" b="0" strike="noStrike" spc="-1" dirty="0">
                <a:solidFill>
                  <a:srgbClr val="4A4A45"/>
                </a:solidFill>
                <a:latin typeface="Lato"/>
                <a:ea typeface="Lato"/>
              </a:rPr>
              <a:t>.</a:t>
            </a:r>
            <a:endParaRPr lang="pt-PT" sz="155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5" name="Picture 404"/>
          <p:cNvPicPr/>
          <p:nvPr/>
        </p:nvPicPr>
        <p:blipFill>
          <a:blip r:embed="rId4"/>
          <a:stretch/>
        </p:blipFill>
        <p:spPr>
          <a:xfrm>
            <a:off x="12865680" y="6515280"/>
            <a:ext cx="1714320" cy="1714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Image 0" descr="preencoded.png"/>
          <p:cNvPicPr/>
          <p:nvPr/>
        </p:nvPicPr>
        <p:blipFill>
          <a:blip r:embed="rId3"/>
          <a:stretch/>
        </p:blipFill>
        <p:spPr>
          <a:xfrm>
            <a:off x="0" y="0"/>
            <a:ext cx="14630040" cy="2532600"/>
          </a:xfrm>
          <a:prstGeom prst="rect">
            <a:avLst/>
          </a:prstGeom>
          <a:ln w="0">
            <a:noFill/>
          </a:ln>
        </p:spPr>
      </p:pic>
      <p:sp>
        <p:nvSpPr>
          <p:cNvPr id="407" name="Text 0"/>
          <p:cNvSpPr/>
          <p:nvPr/>
        </p:nvSpPr>
        <p:spPr>
          <a:xfrm>
            <a:off x="709200" y="3089880"/>
            <a:ext cx="6890040" cy="63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4949"/>
              </a:lnSpc>
              <a:tabLst>
                <a:tab pos="0" algn="l"/>
              </a:tabLst>
            </a:pPr>
            <a:r>
              <a:rPr lang="en-US" sz="3950" b="1" strike="noStrike" spc="-1" dirty="0" err="1">
                <a:solidFill>
                  <a:srgbClr val="282824"/>
                </a:solidFill>
                <a:latin typeface="Lato Bold"/>
                <a:ea typeface="Lato Bold"/>
              </a:rPr>
              <a:t>Modelo</a:t>
            </a:r>
            <a:r>
              <a:rPr lang="en-US" sz="3950" b="1" strike="noStrike" spc="-1" dirty="0">
                <a:solidFill>
                  <a:srgbClr val="282824"/>
                </a:solidFill>
                <a:latin typeface="Lato Bold"/>
                <a:ea typeface="Lato Bold"/>
              </a:rPr>
              <a:t> de Dominio</a:t>
            </a:r>
            <a:endParaRPr lang="pt-PT" sz="39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 1"/>
          <p:cNvSpPr/>
          <p:nvPr/>
        </p:nvSpPr>
        <p:spPr>
          <a:xfrm>
            <a:off x="2026080" y="4229640"/>
            <a:ext cx="2532600" cy="31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49"/>
              </a:lnSpc>
              <a:tabLst>
                <a:tab pos="0" algn="l"/>
              </a:tabLst>
            </a:pPr>
            <a:endParaRPr lang="en-US" sz="1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 3"/>
          <p:cNvSpPr/>
          <p:nvPr/>
        </p:nvSpPr>
        <p:spPr>
          <a:xfrm>
            <a:off x="2026080" y="5445360"/>
            <a:ext cx="2532600" cy="31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49"/>
              </a:lnSpc>
              <a:tabLst>
                <a:tab pos="0" algn="l"/>
              </a:tabLst>
            </a:pPr>
            <a:endParaRPr lang="en-US" sz="1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 4"/>
          <p:cNvSpPr/>
          <p:nvPr/>
        </p:nvSpPr>
        <p:spPr>
          <a:xfrm>
            <a:off x="1053065" y="4199940"/>
            <a:ext cx="11894760" cy="24611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r>
              <a:rPr lang="pt-PT" sz="2400" b="0" strike="noStrike" spc="-1" dirty="0">
                <a:solidFill>
                  <a:srgbClr val="4A4A45"/>
                </a:solidFill>
                <a:latin typeface="Lato"/>
                <a:ea typeface="Lato"/>
              </a:rPr>
              <a:t>Relacionamento entre:</a:t>
            </a:r>
          </a:p>
          <a:p>
            <a:pPr marL="342900" indent="-342900">
              <a:lnSpc>
                <a:spcPts val="2551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pt-PT" sz="2400" spc="-1" dirty="0">
                <a:solidFill>
                  <a:srgbClr val="4A4A45"/>
                </a:solidFill>
                <a:latin typeface="Lato"/>
                <a:ea typeface="Lato"/>
              </a:rPr>
              <a:t>C</a:t>
            </a:r>
            <a:r>
              <a:rPr lang="pt-PT" sz="2400" b="0" strike="noStrike" spc="-1" dirty="0">
                <a:solidFill>
                  <a:srgbClr val="4A4A45"/>
                </a:solidFill>
                <a:latin typeface="Lato"/>
                <a:ea typeface="Lato"/>
              </a:rPr>
              <a:t>liente;</a:t>
            </a:r>
          </a:p>
          <a:p>
            <a:pPr marL="342900" indent="-342900">
              <a:lnSpc>
                <a:spcPts val="2551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pt-PT" sz="2400" spc="-1" dirty="0">
                <a:solidFill>
                  <a:srgbClr val="4A4A45"/>
                </a:solidFill>
                <a:latin typeface="Lato"/>
                <a:ea typeface="Lato"/>
              </a:rPr>
              <a:t>P</a:t>
            </a:r>
            <a:r>
              <a:rPr lang="pt-PT" sz="2400" b="0" strike="noStrike" spc="-1" dirty="0">
                <a:solidFill>
                  <a:srgbClr val="4A4A45"/>
                </a:solidFill>
                <a:latin typeface="Lato"/>
                <a:ea typeface="Lato"/>
              </a:rPr>
              <a:t>restador de serviço </a:t>
            </a:r>
          </a:p>
          <a:p>
            <a:pPr marL="342900" indent="-342900">
              <a:lnSpc>
                <a:spcPts val="2551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pt-PT" sz="2400" spc="-1" dirty="0">
                <a:solidFill>
                  <a:srgbClr val="4A4A45"/>
                </a:solidFill>
                <a:latin typeface="Lato"/>
                <a:ea typeface="Lato"/>
              </a:rPr>
              <a:t>A</a:t>
            </a:r>
            <a:r>
              <a:rPr lang="pt-PT" sz="2400" b="0" strike="noStrike" spc="-1" dirty="0">
                <a:solidFill>
                  <a:srgbClr val="4A4A45"/>
                </a:solidFill>
                <a:latin typeface="Lato"/>
                <a:ea typeface="Lato"/>
              </a:rPr>
              <a:t>nimal;</a:t>
            </a:r>
          </a:p>
          <a:p>
            <a:pPr marL="342900" indent="-342900">
              <a:lnSpc>
                <a:spcPts val="2551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pt-PT" sz="2400" spc="-1" dirty="0">
                <a:solidFill>
                  <a:srgbClr val="4A4A45"/>
                </a:solidFill>
                <a:latin typeface="Lato"/>
                <a:ea typeface="Lato"/>
              </a:rPr>
              <a:t>P</a:t>
            </a:r>
            <a:r>
              <a:rPr lang="pt-PT" sz="2400" b="0" strike="noStrike" spc="-1" dirty="0">
                <a:solidFill>
                  <a:srgbClr val="4A4A45"/>
                </a:solidFill>
                <a:latin typeface="Lato"/>
                <a:ea typeface="Lato"/>
              </a:rPr>
              <a:t>agamento;  </a:t>
            </a:r>
          </a:p>
          <a:p>
            <a:pPr marL="342900" indent="-342900">
              <a:lnSpc>
                <a:spcPts val="2551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pt-PT" sz="2400" spc="-1" dirty="0">
                <a:solidFill>
                  <a:srgbClr val="4A4A45"/>
                </a:solidFill>
                <a:latin typeface="Lato"/>
                <a:ea typeface="Lato"/>
              </a:rPr>
              <a:t>Marcação;</a:t>
            </a:r>
            <a:endParaRPr lang="pt-PT" sz="2400" b="0" strike="noStrike" spc="-1" dirty="0">
              <a:solidFill>
                <a:srgbClr val="4A4A45"/>
              </a:solidFill>
              <a:latin typeface="Lato"/>
              <a:ea typeface="Lato"/>
            </a:endParaRPr>
          </a:p>
          <a:p>
            <a:pPr marL="342900" indent="-342900">
              <a:lnSpc>
                <a:spcPts val="2551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pt-PT" sz="2400" spc="-1" dirty="0">
                <a:solidFill>
                  <a:srgbClr val="4A4A45"/>
                </a:solidFill>
                <a:latin typeface="Lato"/>
                <a:ea typeface="Lato"/>
              </a:rPr>
              <a:t>A</a:t>
            </a:r>
            <a:r>
              <a:rPr lang="pt-PT" sz="2400" b="0" strike="noStrike" spc="-1" dirty="0">
                <a:solidFill>
                  <a:srgbClr val="4A4A45"/>
                </a:solidFill>
                <a:latin typeface="Lato"/>
                <a:ea typeface="Lato"/>
              </a:rPr>
              <a:t>valiação.</a:t>
            </a:r>
            <a:endParaRPr lang="pt-PT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 5"/>
          <p:cNvSpPr/>
          <p:nvPr/>
        </p:nvSpPr>
        <p:spPr>
          <a:xfrm>
            <a:off x="2026080" y="6661080"/>
            <a:ext cx="2532600" cy="31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49"/>
              </a:lnSpc>
              <a:tabLst>
                <a:tab pos="0" algn="l"/>
              </a:tabLst>
            </a:pPr>
            <a:endParaRPr lang="en-US" sz="19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7" name="Picture 416"/>
          <p:cNvPicPr/>
          <p:nvPr/>
        </p:nvPicPr>
        <p:blipFill>
          <a:blip r:embed="rId4"/>
          <a:stretch/>
        </p:blipFill>
        <p:spPr>
          <a:xfrm>
            <a:off x="12865680" y="6515280"/>
            <a:ext cx="1714320" cy="1714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314D66-8D56-D8D1-72E5-B9EDF1608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086" y="20519"/>
            <a:ext cx="11077082" cy="818856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D3ADB30-84A3-E769-9EFA-7B55EAEE7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5168" y="7466026"/>
            <a:ext cx="1475232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906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180B1-3A8D-11BF-C39D-CA856DC18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Text 0">
            <a:extLst>
              <a:ext uri="{FF2B5EF4-FFF2-40B4-BE49-F238E27FC236}">
                <a16:creationId xmlns:a16="http://schemas.microsoft.com/office/drawing/2014/main" id="{AB804422-12ED-F587-915F-6B313E00BB98}"/>
              </a:ext>
            </a:extLst>
          </p:cNvPr>
          <p:cNvSpPr/>
          <p:nvPr/>
        </p:nvSpPr>
        <p:spPr>
          <a:xfrm>
            <a:off x="638862" y="936000"/>
            <a:ext cx="6890040" cy="63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4949"/>
              </a:lnSpc>
              <a:tabLst>
                <a:tab pos="0" algn="l"/>
              </a:tabLst>
            </a:pPr>
            <a:r>
              <a:rPr lang="en-US" sz="3950" b="1" strike="noStrike" spc="-1" dirty="0">
                <a:solidFill>
                  <a:srgbClr val="282824"/>
                </a:solidFill>
                <a:latin typeface="Lato Bold"/>
                <a:ea typeface="Lato Bold"/>
              </a:rPr>
              <a:t>Novas </a:t>
            </a:r>
            <a:r>
              <a:rPr lang="en-US" sz="3950" b="1" strike="noStrike" spc="-1" dirty="0" err="1">
                <a:solidFill>
                  <a:srgbClr val="282824"/>
                </a:solidFill>
                <a:latin typeface="Lato Bold"/>
                <a:ea typeface="Lato Bold"/>
              </a:rPr>
              <a:t>Aprendizagens</a:t>
            </a:r>
            <a:endParaRPr lang="pt-PT" sz="39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 1">
            <a:extLst>
              <a:ext uri="{FF2B5EF4-FFF2-40B4-BE49-F238E27FC236}">
                <a16:creationId xmlns:a16="http://schemas.microsoft.com/office/drawing/2014/main" id="{E52FA55B-BED6-85DF-5D9A-C2BDEAF9AC2E}"/>
              </a:ext>
            </a:extLst>
          </p:cNvPr>
          <p:cNvSpPr/>
          <p:nvPr/>
        </p:nvSpPr>
        <p:spPr>
          <a:xfrm>
            <a:off x="2026080" y="4229640"/>
            <a:ext cx="2532600" cy="31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49"/>
              </a:lnSpc>
              <a:tabLst>
                <a:tab pos="0" algn="l"/>
              </a:tabLst>
            </a:pPr>
            <a:endParaRPr lang="en-US" sz="1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 3">
            <a:extLst>
              <a:ext uri="{FF2B5EF4-FFF2-40B4-BE49-F238E27FC236}">
                <a16:creationId xmlns:a16="http://schemas.microsoft.com/office/drawing/2014/main" id="{981460E8-B773-FCEE-662D-9BCFD8890301}"/>
              </a:ext>
            </a:extLst>
          </p:cNvPr>
          <p:cNvSpPr/>
          <p:nvPr/>
        </p:nvSpPr>
        <p:spPr>
          <a:xfrm>
            <a:off x="2026080" y="5445360"/>
            <a:ext cx="2532600" cy="31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49"/>
              </a:lnSpc>
              <a:tabLst>
                <a:tab pos="0" algn="l"/>
              </a:tabLst>
            </a:pPr>
            <a:endParaRPr lang="en-US" sz="1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 4">
            <a:extLst>
              <a:ext uri="{FF2B5EF4-FFF2-40B4-BE49-F238E27FC236}">
                <a16:creationId xmlns:a16="http://schemas.microsoft.com/office/drawing/2014/main" id="{26E4E818-6A8E-35D2-325C-3AA4CA3F8F14}"/>
              </a:ext>
            </a:extLst>
          </p:cNvPr>
          <p:cNvSpPr/>
          <p:nvPr/>
        </p:nvSpPr>
        <p:spPr>
          <a:xfrm>
            <a:off x="970920" y="2049411"/>
            <a:ext cx="11894760" cy="24611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endParaRPr lang="pt-PT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 5">
            <a:extLst>
              <a:ext uri="{FF2B5EF4-FFF2-40B4-BE49-F238E27FC236}">
                <a16:creationId xmlns:a16="http://schemas.microsoft.com/office/drawing/2014/main" id="{EBFECB7C-8627-88E3-97BC-9C073A3C8293}"/>
              </a:ext>
            </a:extLst>
          </p:cNvPr>
          <p:cNvSpPr/>
          <p:nvPr/>
        </p:nvSpPr>
        <p:spPr>
          <a:xfrm>
            <a:off x="2026080" y="6661080"/>
            <a:ext cx="2532600" cy="31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49"/>
              </a:lnSpc>
              <a:tabLst>
                <a:tab pos="0" algn="l"/>
              </a:tabLst>
            </a:pPr>
            <a:endParaRPr lang="en-US" sz="19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7" name="Picture 416">
            <a:extLst>
              <a:ext uri="{FF2B5EF4-FFF2-40B4-BE49-F238E27FC236}">
                <a16:creationId xmlns:a16="http://schemas.microsoft.com/office/drawing/2014/main" id="{7ED18FAE-370C-ECFF-C675-F1B091E705A7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2865680" y="6515280"/>
            <a:ext cx="1714320" cy="1714320"/>
          </a:xfrm>
          <a:prstGeom prst="rect">
            <a:avLst/>
          </a:prstGeom>
          <a:ln w="0"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62C00A4-00E5-E2BD-10CE-B0BFCFE17AFC}"/>
              </a:ext>
            </a:extLst>
          </p:cNvPr>
          <p:cNvSpPr txBox="1"/>
          <p:nvPr/>
        </p:nvSpPr>
        <p:spPr>
          <a:xfrm>
            <a:off x="970920" y="2386578"/>
            <a:ext cx="118947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400" dirty="0"/>
              <a:t>Em </a:t>
            </a:r>
            <a:r>
              <a:rPr lang="pt-PT" sz="2400" dirty="0" err="1"/>
              <a:t>pet</a:t>
            </a:r>
            <a:r>
              <a:rPr lang="pt-PT" sz="2400" dirty="0"/>
              <a:t> </a:t>
            </a:r>
            <a:r>
              <a:rPr lang="pt-PT" sz="2400" dirty="0" err="1"/>
              <a:t>walking</a:t>
            </a:r>
            <a:r>
              <a:rPr lang="pt-PT" sz="2400" dirty="0"/>
              <a:t>, na maior parte de sítios requer que o cão tenha algum treino, e que seja sociável;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400" dirty="0"/>
              <a:t>Existe duas vertentes de </a:t>
            </a:r>
            <a:r>
              <a:rPr lang="pt-PT" sz="2400" dirty="0" err="1"/>
              <a:t>pet</a:t>
            </a:r>
            <a:r>
              <a:rPr lang="pt-PT" sz="2400" dirty="0"/>
              <a:t> </a:t>
            </a:r>
            <a:r>
              <a:rPr lang="pt-PT" sz="2400" dirty="0" err="1"/>
              <a:t>sitting</a:t>
            </a:r>
            <a:r>
              <a:rPr lang="pt-PT" sz="2400" dirty="0"/>
              <a:t>, podendo o prestador ir ter a casa do cliente ou o cliente entregar o animal a casa do prestador;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2400" dirty="0"/>
              <a:t>Em </a:t>
            </a:r>
            <a:r>
              <a:rPr lang="pt-PT" sz="2400" dirty="0" err="1"/>
              <a:t>pet</a:t>
            </a:r>
            <a:r>
              <a:rPr lang="pt-PT" sz="2400" dirty="0"/>
              <a:t> hotel, certas características do animal pode permitir ou não a sua estadia em certas circunstâncias.</a:t>
            </a:r>
          </a:p>
        </p:txBody>
      </p:sp>
    </p:spTree>
    <p:extLst>
      <p:ext uri="{BB962C8B-B14F-4D97-AF65-F5344CB8AC3E}">
        <p14:creationId xmlns:p14="http://schemas.microsoft.com/office/powerpoint/2010/main" val="2239415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50C71-5D48-4F9A-1294-78AC1FEF4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Image 0" descr="preencoded.png">
            <a:extLst>
              <a:ext uri="{FF2B5EF4-FFF2-40B4-BE49-F238E27FC236}">
                <a16:creationId xmlns:a16="http://schemas.microsoft.com/office/drawing/2014/main" id="{37298590-1E55-254E-F2BD-A72A7F409B1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0" y="0"/>
            <a:ext cx="14630040" cy="2532600"/>
          </a:xfrm>
          <a:prstGeom prst="rect">
            <a:avLst/>
          </a:prstGeom>
          <a:ln w="0">
            <a:noFill/>
          </a:ln>
        </p:spPr>
      </p:pic>
      <p:sp>
        <p:nvSpPr>
          <p:cNvPr id="407" name="Text 0">
            <a:extLst>
              <a:ext uri="{FF2B5EF4-FFF2-40B4-BE49-F238E27FC236}">
                <a16:creationId xmlns:a16="http://schemas.microsoft.com/office/drawing/2014/main" id="{7028A313-F626-04E3-E371-6E119BE0E6C5}"/>
              </a:ext>
            </a:extLst>
          </p:cNvPr>
          <p:cNvSpPr/>
          <p:nvPr/>
        </p:nvSpPr>
        <p:spPr>
          <a:xfrm>
            <a:off x="709200" y="3089880"/>
            <a:ext cx="6890040" cy="63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4949"/>
              </a:lnSpc>
              <a:tabLst>
                <a:tab pos="0" algn="l"/>
              </a:tabLst>
            </a:pPr>
            <a:r>
              <a:rPr lang="en-US" sz="3950" b="1" strike="noStrike" spc="-1" dirty="0">
                <a:solidFill>
                  <a:srgbClr val="282824"/>
                </a:solidFill>
                <a:latin typeface="Lato Bold"/>
                <a:ea typeface="Lato Bold"/>
              </a:rPr>
              <a:t>RoadMap de </a:t>
            </a:r>
            <a:r>
              <a:rPr lang="en-US" sz="3950" b="1" strike="noStrike" spc="-1" dirty="0" err="1">
                <a:solidFill>
                  <a:srgbClr val="282824"/>
                </a:solidFill>
                <a:latin typeface="Lato Bold"/>
                <a:ea typeface="Lato Bold"/>
              </a:rPr>
              <a:t>Desenvolvimento</a:t>
            </a:r>
            <a:endParaRPr lang="pt-PT" sz="39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 1">
            <a:extLst>
              <a:ext uri="{FF2B5EF4-FFF2-40B4-BE49-F238E27FC236}">
                <a16:creationId xmlns:a16="http://schemas.microsoft.com/office/drawing/2014/main" id="{F7E3876A-D945-5827-C63C-9C5EFACA62FD}"/>
              </a:ext>
            </a:extLst>
          </p:cNvPr>
          <p:cNvSpPr/>
          <p:nvPr/>
        </p:nvSpPr>
        <p:spPr>
          <a:xfrm>
            <a:off x="2026080" y="4229640"/>
            <a:ext cx="2532600" cy="31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49"/>
              </a:lnSpc>
              <a:tabLst>
                <a:tab pos="0" algn="l"/>
              </a:tabLst>
            </a:pPr>
            <a:endParaRPr lang="en-US" sz="1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 3">
            <a:extLst>
              <a:ext uri="{FF2B5EF4-FFF2-40B4-BE49-F238E27FC236}">
                <a16:creationId xmlns:a16="http://schemas.microsoft.com/office/drawing/2014/main" id="{18DE8933-C17E-8043-F3E2-B86252C18F1F}"/>
              </a:ext>
            </a:extLst>
          </p:cNvPr>
          <p:cNvSpPr/>
          <p:nvPr/>
        </p:nvSpPr>
        <p:spPr>
          <a:xfrm>
            <a:off x="2026080" y="5445360"/>
            <a:ext cx="2532600" cy="31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49"/>
              </a:lnSpc>
              <a:tabLst>
                <a:tab pos="0" algn="l"/>
              </a:tabLst>
            </a:pPr>
            <a:endParaRPr lang="en-US" sz="1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 4">
            <a:extLst>
              <a:ext uri="{FF2B5EF4-FFF2-40B4-BE49-F238E27FC236}">
                <a16:creationId xmlns:a16="http://schemas.microsoft.com/office/drawing/2014/main" id="{C1B7C5F7-1281-E327-D57F-E66463A7BBF1}"/>
              </a:ext>
            </a:extLst>
          </p:cNvPr>
          <p:cNvSpPr/>
          <p:nvPr/>
        </p:nvSpPr>
        <p:spPr>
          <a:xfrm>
            <a:off x="1053065" y="4199940"/>
            <a:ext cx="11894760" cy="24611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551"/>
              </a:lnSpc>
              <a:tabLst>
                <a:tab pos="0" algn="l"/>
              </a:tabLst>
            </a:pPr>
            <a:endParaRPr lang="pt-PT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 5">
            <a:extLst>
              <a:ext uri="{FF2B5EF4-FFF2-40B4-BE49-F238E27FC236}">
                <a16:creationId xmlns:a16="http://schemas.microsoft.com/office/drawing/2014/main" id="{28F3AFEE-415A-3CA8-09E1-DB644CA10090}"/>
              </a:ext>
            </a:extLst>
          </p:cNvPr>
          <p:cNvSpPr/>
          <p:nvPr/>
        </p:nvSpPr>
        <p:spPr>
          <a:xfrm>
            <a:off x="2026080" y="6661080"/>
            <a:ext cx="2532600" cy="31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>
              <a:lnSpc>
                <a:spcPts val="2449"/>
              </a:lnSpc>
              <a:tabLst>
                <a:tab pos="0" algn="l"/>
              </a:tabLst>
            </a:pPr>
            <a:endParaRPr lang="en-US" sz="19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7" name="Picture 416">
            <a:extLst>
              <a:ext uri="{FF2B5EF4-FFF2-40B4-BE49-F238E27FC236}">
                <a16:creationId xmlns:a16="http://schemas.microsoft.com/office/drawing/2014/main" id="{7B8B8A04-890A-D03F-E899-4BD2164BE45E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2865680" y="6515280"/>
            <a:ext cx="1714320" cy="1714320"/>
          </a:xfrm>
          <a:prstGeom prst="rect">
            <a:avLst/>
          </a:prstGeom>
          <a:ln w="0">
            <a:noFill/>
          </a:ln>
        </p:spPr>
      </p:pic>
      <p:sp>
        <p:nvSpPr>
          <p:cNvPr id="2" name="Arrow: Chevron 1">
            <a:extLst>
              <a:ext uri="{FF2B5EF4-FFF2-40B4-BE49-F238E27FC236}">
                <a16:creationId xmlns:a16="http://schemas.microsoft.com/office/drawing/2014/main" id="{D28D41C5-9A74-D1C6-C4C2-8A00A4AE6C44}"/>
              </a:ext>
            </a:extLst>
          </p:cNvPr>
          <p:cNvSpPr/>
          <p:nvPr/>
        </p:nvSpPr>
        <p:spPr>
          <a:xfrm rot="5400000">
            <a:off x="378858" y="4071240"/>
            <a:ext cx="1148862" cy="632880"/>
          </a:xfrm>
          <a:prstGeom prst="chevron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B05127A0-AD52-5CEF-AB7D-DD5F09800DCD}"/>
              </a:ext>
            </a:extLst>
          </p:cNvPr>
          <p:cNvSpPr/>
          <p:nvPr/>
        </p:nvSpPr>
        <p:spPr>
          <a:xfrm rot="5400000">
            <a:off x="382578" y="5046669"/>
            <a:ext cx="1148862" cy="632880"/>
          </a:xfrm>
          <a:prstGeom prst="chevron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4" name="Arrow: Chevron 3">
            <a:extLst>
              <a:ext uri="{FF2B5EF4-FFF2-40B4-BE49-F238E27FC236}">
                <a16:creationId xmlns:a16="http://schemas.microsoft.com/office/drawing/2014/main" id="{ED720A33-90EC-29F1-D8F0-90D3866BA07A}"/>
              </a:ext>
            </a:extLst>
          </p:cNvPr>
          <p:cNvSpPr/>
          <p:nvPr/>
        </p:nvSpPr>
        <p:spPr>
          <a:xfrm rot="5400000">
            <a:off x="378858" y="6019431"/>
            <a:ext cx="1148862" cy="632880"/>
          </a:xfrm>
          <a:prstGeom prst="chevron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9E9C1D38-8310-DF3A-D5A8-8589858EC9D0}"/>
              </a:ext>
            </a:extLst>
          </p:cNvPr>
          <p:cNvSpPr/>
          <p:nvPr/>
        </p:nvSpPr>
        <p:spPr>
          <a:xfrm rot="5400000">
            <a:off x="378858" y="6994860"/>
            <a:ext cx="1148862" cy="632880"/>
          </a:xfrm>
          <a:prstGeom prst="chevron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964221-3E0D-E677-7B05-62B77F5FFFD7}"/>
              </a:ext>
            </a:extLst>
          </p:cNvPr>
          <p:cNvSpPr txBox="1"/>
          <p:nvPr/>
        </p:nvSpPr>
        <p:spPr>
          <a:xfrm>
            <a:off x="807294" y="4226001"/>
            <a:ext cx="87704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dirty="0"/>
              <a:t>1      Planeamento e Definição - </a:t>
            </a:r>
            <a:r>
              <a:rPr lang="pt-PT" dirty="0"/>
              <a:t>Validação de requisitos e criação do MPV</a:t>
            </a:r>
          </a:p>
          <a:p>
            <a:endParaRPr lang="pt-PT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5D2E16-F93E-604D-FA00-09317EDB333D}"/>
              </a:ext>
            </a:extLst>
          </p:cNvPr>
          <p:cNvSpPr txBox="1"/>
          <p:nvPr/>
        </p:nvSpPr>
        <p:spPr>
          <a:xfrm>
            <a:off x="807293" y="5196962"/>
            <a:ext cx="126625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dirty="0"/>
              <a:t>2      Implementação Inicial</a:t>
            </a:r>
            <a:r>
              <a:rPr lang="pt-PT" dirty="0"/>
              <a:t> </a:t>
            </a:r>
            <a:r>
              <a:rPr lang="pt-PT" b="1" dirty="0"/>
              <a:t>- </a:t>
            </a:r>
            <a:r>
              <a:rPr lang="pt-PT" dirty="0"/>
              <a:t>Desenvolvimento do módulos de registo, pesquisa de serviços e pagamento.</a:t>
            </a:r>
          </a:p>
          <a:p>
            <a:endParaRPr lang="pt-PT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06C53E-CBB7-5D21-5517-528FF261FC75}"/>
              </a:ext>
            </a:extLst>
          </p:cNvPr>
          <p:cNvSpPr txBox="1"/>
          <p:nvPr/>
        </p:nvSpPr>
        <p:spPr>
          <a:xfrm>
            <a:off x="807293" y="6199185"/>
            <a:ext cx="12662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dirty="0"/>
              <a:t>3      Expansão e Otimização</a:t>
            </a:r>
            <a:r>
              <a:rPr lang="pt-PT" dirty="0"/>
              <a:t> </a:t>
            </a:r>
            <a:r>
              <a:rPr lang="pt-PT" b="1" dirty="0"/>
              <a:t>- </a:t>
            </a:r>
            <a:r>
              <a:rPr lang="pt-PT" dirty="0"/>
              <a:t>Implementação do sistema de notificações com melhorias na segurança e escalabilidade.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2839BE-F353-D21F-3C0B-D55E8F35FA22}"/>
              </a:ext>
            </a:extLst>
          </p:cNvPr>
          <p:cNvSpPr txBox="1"/>
          <p:nvPr/>
        </p:nvSpPr>
        <p:spPr>
          <a:xfrm>
            <a:off x="807293" y="7166991"/>
            <a:ext cx="126625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b="1" dirty="0"/>
              <a:t>4      Lançamento e Feedback</a:t>
            </a:r>
            <a:r>
              <a:rPr lang="pt-PT" dirty="0"/>
              <a:t> </a:t>
            </a:r>
            <a:r>
              <a:rPr lang="pt-PT" b="1" dirty="0"/>
              <a:t>- </a:t>
            </a:r>
            <a:r>
              <a:rPr lang="pt-PT" dirty="0"/>
              <a:t>Testes beta e recolha de feedback para melhorias finais.</a:t>
            </a:r>
          </a:p>
        </p:txBody>
      </p:sp>
    </p:spTree>
    <p:extLst>
      <p:ext uri="{BB962C8B-B14F-4D97-AF65-F5344CB8AC3E}">
        <p14:creationId xmlns:p14="http://schemas.microsoft.com/office/powerpoint/2010/main" val="3651331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</TotalTime>
  <Words>372</Words>
  <Application>Microsoft Office PowerPoint</Application>
  <PresentationFormat>Personalizados</PresentationFormat>
  <Paragraphs>75</Paragraphs>
  <Slides>11</Slides>
  <Notes>9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9</vt:i4>
      </vt:variant>
      <vt:variant>
        <vt:lpstr>Tema</vt:lpstr>
      </vt:variant>
      <vt:variant>
        <vt:i4>7</vt:i4>
      </vt:variant>
      <vt:variant>
        <vt:lpstr>Títulos dos diapositivos</vt:lpstr>
      </vt:variant>
      <vt:variant>
        <vt:i4>11</vt:i4>
      </vt:variant>
    </vt:vector>
  </HeadingPairs>
  <TitlesOfParts>
    <vt:vector size="27" baseType="lpstr">
      <vt:lpstr>Arial</vt:lpstr>
      <vt:lpstr>Calibri</vt:lpstr>
      <vt:lpstr>Calibri Light</vt:lpstr>
      <vt:lpstr>Inter</vt:lpstr>
      <vt:lpstr>Lato</vt:lpstr>
      <vt:lpstr>Lato Bold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cp:lastModifiedBy>Daniel Oliveira</cp:lastModifiedBy>
  <cp:revision>8</cp:revision>
  <dcterms:created xsi:type="dcterms:W3CDTF">2025-02-26T16:28:41Z</dcterms:created>
  <dcterms:modified xsi:type="dcterms:W3CDTF">2025-03-27T11:36:56Z</dcterms:modified>
  <dc:language>pt-PT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