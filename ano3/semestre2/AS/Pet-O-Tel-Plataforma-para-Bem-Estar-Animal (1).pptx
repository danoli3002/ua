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</p:sldMasterIdLst>
  <p:notesMasterIdLst>
    <p:notesMasterId r:id="rId19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4630400" cy="8229600"/>
  <p:notesSz cx="8229600" cy="146304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105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mover o diapositivo</a:t>
            </a: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Clique para editar o formato das notas</a:t>
            </a:r>
          </a:p>
        </p:txBody>
      </p:sp>
      <p:sp>
        <p:nvSpPr>
          <p:cNvPr id="3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&lt;cabeçalho&gt;</a:t>
            </a:r>
          </a:p>
        </p:txBody>
      </p:sp>
      <p:sp>
        <p:nvSpPr>
          <p:cNvPr id="33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33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3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6FF608A-0F9C-4540-A847-3382A7959BF2}" type="slidenum"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pt-PT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D4C0996-26CA-4BC7-A725-9AF71427F83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A3EA79-4404-4B81-B04F-DB2EEFBEEB1C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4533E9-36F7-40A1-B054-597D6AE7091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157675-3EEE-4887-8834-B374267D2B52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D0EDC4-BD51-4A7A-98BE-2E24EF4F047E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5950AB-4404-4789-B479-DC0B842FF68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97D2A4-D09C-4C90-848B-45D136D86AA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40ACA0-0EB6-4B4B-B6EA-6786FC85150D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gamma.app/?utm_source=made-with-gamma" TargetMode="Externa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hyperlink" Target="https://gamma.app/?utm_source=made-with-gamma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hyperlink" Target="https://gamma.app/?utm_source=made-with-gamma" TargetMode="Externa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hyperlink" Target="https://gamma.app/?utm_source=made-with-gamma" TargetMode="Externa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hyperlink" Target="https://gamma.app/?utm_source=made-with-gamma" TargetMode="Externa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hyperlink" Target="https://gamma.app/?utm_source=made-with-gamma" TargetMode="Externa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hyperlink" Target="https://gamma.app/?utm_source=made-with-gamma" TargetMode="Externa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hyperlink" Target="https://gamma.app/?utm_source=made-with-gamma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335" name="Text 0"/>
          <p:cNvSpPr/>
          <p:nvPr/>
        </p:nvSpPr>
        <p:spPr>
          <a:xfrm>
            <a:off x="6280200" y="287280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strike="noStrike" spc="-1">
                <a:solidFill>
                  <a:srgbClr val="282824"/>
                </a:solidFill>
                <a:latin typeface="Lato Bold"/>
                <a:ea typeface="Lato Bold"/>
              </a:rPr>
              <a:t>Pet-O-Tel: Plataforma para Bem-Estar Animal</a:t>
            </a:r>
            <a:endParaRPr lang="pt-PT" sz="4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"/>
          <p:cNvSpPr/>
          <p:nvPr/>
        </p:nvSpPr>
        <p:spPr>
          <a:xfrm>
            <a:off x="6280200" y="4630680"/>
            <a:ext cx="755604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Apresentação da visão do produto Pet-O-Tel, uma plataforma digital para conectar donos de animais a prestadores de serviços de bem-estar animal.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7" name="Imagem 336"/>
          <p:cNvPicPr/>
          <p:nvPr/>
        </p:nvPicPr>
        <p:blipFill>
          <a:blip r:embed="rId4"/>
          <a:stretch/>
        </p:blipFill>
        <p:spPr>
          <a:xfrm>
            <a:off x="12865680" y="6515280"/>
            <a:ext cx="1714320" cy="1714320"/>
          </a:xfrm>
          <a:prstGeom prst="rect">
            <a:avLst/>
          </a:prstGeom>
          <a:ln w="0">
            <a:noFill/>
          </a:ln>
        </p:spPr>
      </p:pic>
      <p:sp>
        <p:nvSpPr>
          <p:cNvPr id="338" name="CaixaDeTexto 337"/>
          <p:cNvSpPr txBox="1"/>
          <p:nvPr/>
        </p:nvSpPr>
        <p:spPr>
          <a:xfrm>
            <a:off x="5486040" y="6347160"/>
            <a:ext cx="4860000" cy="1882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PT" spc="-1" dirty="0">
                <a:solidFill>
                  <a:srgbClr val="000000"/>
                </a:solidFill>
                <a:latin typeface="Arial"/>
              </a:rPr>
              <a:t>G</a:t>
            </a:r>
            <a:r>
              <a:rPr lang="pt-PT" sz="1800" b="0" strike="noStrike" spc="-1" dirty="0">
                <a:solidFill>
                  <a:srgbClr val="000000"/>
                </a:solidFill>
                <a:latin typeface="Arial"/>
              </a:rPr>
              <a:t>rupo à-espera-de-Juan:</a:t>
            </a:r>
          </a:p>
          <a:p>
            <a:endParaRPr lang="pt-PT" sz="18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pt-PT" sz="1800" b="0" strike="noStrike" spc="-1" dirty="0">
                <a:solidFill>
                  <a:srgbClr val="000000"/>
                </a:solidFill>
                <a:latin typeface="Arial"/>
              </a:rPr>
              <a:t>Alexandre Silva, 119583</a:t>
            </a:r>
          </a:p>
          <a:p>
            <a:r>
              <a:rPr lang="pt-PT" sz="1800" b="0" strike="noStrike" spc="-1" dirty="0">
                <a:solidFill>
                  <a:srgbClr val="000000"/>
                </a:solidFill>
                <a:latin typeface="Arial"/>
              </a:rPr>
              <a:t>Daniel </a:t>
            </a:r>
            <a:r>
              <a:rPr lang="pt-PT" spc="-1" dirty="0">
                <a:solidFill>
                  <a:srgbClr val="000000"/>
                </a:solidFill>
                <a:latin typeface="Arial"/>
              </a:rPr>
              <a:t>Oliveira, 115359</a:t>
            </a:r>
            <a:endParaRPr lang="pt-PT" sz="18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pt-PT" sz="1800" b="0" strike="noStrike" spc="-1" dirty="0">
                <a:solidFill>
                  <a:srgbClr val="000000"/>
                </a:solidFill>
                <a:latin typeface="Arial"/>
              </a:rPr>
              <a:t>José </a:t>
            </a:r>
            <a:r>
              <a:rPr lang="pt-PT" spc="-1" dirty="0">
                <a:solidFill>
                  <a:srgbClr val="000000"/>
                </a:solidFill>
                <a:latin typeface="Arial"/>
              </a:rPr>
              <a:t>Silva, 103248</a:t>
            </a:r>
            <a:endParaRPr lang="pt-PT" sz="18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pt-PT" sz="1800" b="0" strike="noStrike" spc="-1" dirty="0">
                <a:solidFill>
                  <a:srgbClr val="000000"/>
                </a:solidFill>
                <a:latin typeface="Arial"/>
              </a:rPr>
              <a:t>Juan </a:t>
            </a:r>
            <a:r>
              <a:rPr lang="pt-PT" sz="1800" b="0" strike="noStrike" spc="-1" dirty="0" err="1">
                <a:solidFill>
                  <a:srgbClr val="000000"/>
                </a:solidFill>
                <a:latin typeface="Arial"/>
              </a:rPr>
              <a:t>Carpintero</a:t>
            </a:r>
            <a:r>
              <a:rPr lang="pt-PT" sz="1800" b="0" strike="noStrike" spc="-1" dirty="0">
                <a:solidFill>
                  <a:srgbClr val="000000"/>
                </a:solidFill>
                <a:latin typeface="Arial"/>
              </a:rPr>
              <a:t>, 103583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/>
          <p:nvPr/>
        </p:nvSpPr>
        <p:spPr>
          <a:xfrm>
            <a:off x="793800" y="290304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strike="noStrike" spc="-1">
                <a:solidFill>
                  <a:srgbClr val="282824"/>
                </a:solidFill>
                <a:latin typeface="Lato Bold"/>
                <a:ea typeface="Lato Bold"/>
              </a:rPr>
              <a:t>O Problema</a:t>
            </a:r>
            <a:endParaRPr lang="pt-PT" sz="4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793800" y="41785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282824"/>
                </a:solidFill>
                <a:latin typeface="Lato Bold"/>
                <a:ea typeface="Lato Bold"/>
              </a:rPr>
              <a:t>Donos de Animais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793800" y="475992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Dificuldade em encontrar serviços de qualidade.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3"/>
          <p:cNvSpPr/>
          <p:nvPr/>
        </p:nvSpPr>
        <p:spPr>
          <a:xfrm>
            <a:off x="7599600" y="4178520"/>
            <a:ext cx="302904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282824"/>
                </a:solidFill>
                <a:latin typeface="Lato Bold"/>
                <a:ea typeface="Lato Bold"/>
              </a:rPr>
              <a:t>Prestadores de Serviços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7599600" y="475992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Dificuldade em alcançar novos clientes.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4" name="Imagem 343"/>
          <p:cNvPicPr/>
          <p:nvPr/>
        </p:nvPicPr>
        <p:blipFill>
          <a:blip r:embed="rId3"/>
          <a:stretch/>
        </p:blipFill>
        <p:spPr>
          <a:xfrm>
            <a:off x="12865680" y="6515280"/>
            <a:ext cx="1714320" cy="1714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Image 0" descr="preencoded.png"/>
          <p:cNvPicPr/>
          <p:nvPr/>
        </p:nvPicPr>
        <p:blipFill>
          <a:blip r:embed="rId3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346" name="Text 0"/>
          <p:cNvSpPr/>
          <p:nvPr/>
        </p:nvSpPr>
        <p:spPr>
          <a:xfrm>
            <a:off x="793800" y="218700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strike="noStrike" spc="-1">
                <a:solidFill>
                  <a:srgbClr val="282824"/>
                </a:solidFill>
                <a:latin typeface="Lato Bold"/>
                <a:ea typeface="Lato Bold"/>
              </a:rPr>
              <a:t>A Solução</a:t>
            </a:r>
            <a:endParaRPr lang="pt-PT" sz="4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"/>
          <p:cNvSpPr/>
          <p:nvPr/>
        </p:nvSpPr>
        <p:spPr>
          <a:xfrm>
            <a:off x="793800" y="3490920"/>
            <a:ext cx="510120" cy="510120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2"/>
          <p:cNvSpPr/>
          <p:nvPr/>
        </p:nvSpPr>
        <p:spPr>
          <a:xfrm>
            <a:off x="950400" y="3575880"/>
            <a:ext cx="196920" cy="33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650"/>
              </a:lnSpc>
              <a:tabLst>
                <a:tab pos="0" algn="l"/>
              </a:tabLst>
            </a:pPr>
            <a:r>
              <a:rPr lang="en-US" sz="2650" b="1" strike="noStrike" spc="-1">
                <a:solidFill>
                  <a:srgbClr val="4A4A45"/>
                </a:solidFill>
                <a:latin typeface="Lato Bold"/>
                <a:ea typeface="Lato Bold"/>
              </a:rPr>
              <a:t>1</a:t>
            </a:r>
            <a:endParaRPr lang="pt-PT" sz="2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3"/>
          <p:cNvSpPr/>
          <p:nvPr/>
        </p:nvSpPr>
        <p:spPr>
          <a:xfrm>
            <a:off x="1531080" y="34909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A4A45"/>
                </a:solidFill>
                <a:latin typeface="Lato Bold"/>
                <a:ea typeface="Lato Bold"/>
              </a:rPr>
              <a:t>Plataforma Digital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4"/>
          <p:cNvSpPr/>
          <p:nvPr/>
        </p:nvSpPr>
        <p:spPr>
          <a:xfrm>
            <a:off x="1531080" y="3981600"/>
            <a:ext cx="292752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Conecta donos de animais a prestadores de serviços.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5"/>
          <p:cNvSpPr/>
          <p:nvPr/>
        </p:nvSpPr>
        <p:spPr>
          <a:xfrm>
            <a:off x="4685400" y="3490920"/>
            <a:ext cx="510120" cy="510120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6"/>
          <p:cNvSpPr/>
          <p:nvPr/>
        </p:nvSpPr>
        <p:spPr>
          <a:xfrm>
            <a:off x="4842000" y="3575880"/>
            <a:ext cx="196920" cy="33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650"/>
              </a:lnSpc>
              <a:tabLst>
                <a:tab pos="0" algn="l"/>
              </a:tabLst>
            </a:pPr>
            <a:r>
              <a:rPr lang="en-US" sz="2650" b="1" strike="noStrike" spc="-1">
                <a:solidFill>
                  <a:srgbClr val="4A4A45"/>
                </a:solidFill>
                <a:latin typeface="Lato Bold"/>
                <a:ea typeface="Lato Bold"/>
              </a:rPr>
              <a:t>2</a:t>
            </a:r>
            <a:endParaRPr lang="pt-PT" sz="2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7"/>
          <p:cNvSpPr/>
          <p:nvPr/>
        </p:nvSpPr>
        <p:spPr>
          <a:xfrm>
            <a:off x="5422680" y="34909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A4A45"/>
                </a:solidFill>
                <a:latin typeface="Lato Bold"/>
                <a:ea typeface="Lato Bold"/>
              </a:rPr>
              <a:t>Pesquisa e Reserva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5422680" y="3981600"/>
            <a:ext cx="292752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Facilita a procura e reserva de serviços.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9"/>
          <p:cNvSpPr/>
          <p:nvPr/>
        </p:nvSpPr>
        <p:spPr>
          <a:xfrm>
            <a:off x="793800" y="5189400"/>
            <a:ext cx="510120" cy="510120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10"/>
          <p:cNvSpPr/>
          <p:nvPr/>
        </p:nvSpPr>
        <p:spPr>
          <a:xfrm>
            <a:off x="950400" y="5274360"/>
            <a:ext cx="196920" cy="33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650"/>
              </a:lnSpc>
              <a:tabLst>
                <a:tab pos="0" algn="l"/>
              </a:tabLst>
            </a:pPr>
            <a:r>
              <a:rPr lang="en-US" sz="2650" b="1" strike="noStrike" spc="-1">
                <a:solidFill>
                  <a:srgbClr val="4A4A45"/>
                </a:solidFill>
                <a:latin typeface="Lato Bold"/>
                <a:ea typeface="Lato Bold"/>
              </a:rPr>
              <a:t>3</a:t>
            </a:r>
            <a:endParaRPr lang="pt-PT" sz="2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11"/>
          <p:cNvSpPr/>
          <p:nvPr/>
        </p:nvSpPr>
        <p:spPr>
          <a:xfrm>
            <a:off x="1531080" y="5189400"/>
            <a:ext cx="283752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A4A45"/>
                </a:solidFill>
                <a:latin typeface="Lato Bold"/>
                <a:ea typeface="Lato Bold"/>
              </a:rPr>
              <a:t>Avaliações e Feedback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2"/>
          <p:cNvSpPr/>
          <p:nvPr/>
        </p:nvSpPr>
        <p:spPr>
          <a:xfrm>
            <a:off x="1531080" y="5679720"/>
            <a:ext cx="681912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Garante transparência e confiança.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 0"/>
          <p:cNvSpPr/>
          <p:nvPr/>
        </p:nvSpPr>
        <p:spPr>
          <a:xfrm>
            <a:off x="793800" y="4173120"/>
            <a:ext cx="660600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strike="noStrike" spc="-1">
                <a:solidFill>
                  <a:srgbClr val="282824"/>
                </a:solidFill>
                <a:latin typeface="Lato Bold"/>
                <a:ea typeface="Lato Bold"/>
              </a:rPr>
              <a:t>Visão Geral da Plataforma</a:t>
            </a:r>
            <a:endParaRPr lang="pt-PT" sz="4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"/>
          <p:cNvSpPr/>
          <p:nvPr/>
        </p:nvSpPr>
        <p:spPr>
          <a:xfrm>
            <a:off x="793800" y="5221800"/>
            <a:ext cx="4196160" cy="1669320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2"/>
          <p:cNvSpPr/>
          <p:nvPr/>
        </p:nvSpPr>
        <p:spPr>
          <a:xfrm>
            <a:off x="1020600" y="54486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A4A45"/>
                </a:solidFill>
                <a:latin typeface="Lato Bold"/>
                <a:ea typeface="Lato Bold"/>
              </a:rPr>
              <a:t>Donos de Animais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3"/>
          <p:cNvSpPr/>
          <p:nvPr/>
        </p:nvSpPr>
        <p:spPr>
          <a:xfrm>
            <a:off x="1020600" y="5939280"/>
            <a:ext cx="374220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Encontrar serviços com facilidade e segurança.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4"/>
          <p:cNvSpPr/>
          <p:nvPr/>
        </p:nvSpPr>
        <p:spPr>
          <a:xfrm>
            <a:off x="5217120" y="5221800"/>
            <a:ext cx="4196160" cy="1669320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5443920" y="5448600"/>
            <a:ext cx="302904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A4A45"/>
                </a:solidFill>
                <a:latin typeface="Lato Bold"/>
                <a:ea typeface="Lato Bold"/>
              </a:rPr>
              <a:t>Prestadores de Serviços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5443920" y="5939280"/>
            <a:ext cx="374220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Aumentar a visibilidade e captação de clientes.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7"/>
          <p:cNvSpPr/>
          <p:nvPr/>
        </p:nvSpPr>
        <p:spPr>
          <a:xfrm>
            <a:off x="9640080" y="5221800"/>
            <a:ext cx="4196160" cy="1669320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8"/>
          <p:cNvSpPr/>
          <p:nvPr/>
        </p:nvSpPr>
        <p:spPr>
          <a:xfrm>
            <a:off x="9866880" y="54486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A4A45"/>
                </a:solidFill>
                <a:latin typeface="Lato Bold"/>
                <a:ea typeface="Lato Bold"/>
              </a:rPr>
              <a:t>Pet-O-Tel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9"/>
          <p:cNvSpPr/>
          <p:nvPr/>
        </p:nvSpPr>
        <p:spPr>
          <a:xfrm>
            <a:off x="9866880" y="5939280"/>
            <a:ext cx="374220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Modelo de negócios baseado em comissão por transação.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9" name="Imagem 368"/>
          <p:cNvPicPr/>
          <p:nvPr/>
        </p:nvPicPr>
        <p:blipFill>
          <a:blip r:embed="rId3"/>
          <a:stretch/>
        </p:blipFill>
        <p:spPr>
          <a:xfrm>
            <a:off x="12865680" y="6515280"/>
            <a:ext cx="1714320" cy="1714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0"/>
          <p:cNvSpPr/>
          <p:nvPr/>
        </p:nvSpPr>
        <p:spPr>
          <a:xfrm>
            <a:off x="0" y="0"/>
            <a:ext cx="14940000" cy="2835000"/>
          </a:xfrm>
          <a:prstGeom prst="rect">
            <a:avLst/>
          </a:prstGeom>
          <a:solidFill>
            <a:srgbClr val="E5E0D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1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4630040" cy="360"/>
          </a:xfrm>
          <a:prstGeom prst="rect">
            <a:avLst/>
          </a:prstGeom>
          <a:ln w="0">
            <a:noFill/>
          </a:ln>
        </p:spPr>
      </p:pic>
      <p:sp>
        <p:nvSpPr>
          <p:cNvPr id="372" name="Text 1"/>
          <p:cNvSpPr/>
          <p:nvPr/>
        </p:nvSpPr>
        <p:spPr>
          <a:xfrm>
            <a:off x="629640" y="54000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Casos de </a:t>
            </a:r>
            <a:r>
              <a:rPr lang="en-US" sz="445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Utilização</a:t>
            </a:r>
            <a:r>
              <a:rPr lang="en-US" sz="445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 </a:t>
            </a:r>
            <a:r>
              <a:rPr lang="en-US" sz="445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Principais</a:t>
            </a:r>
            <a:r>
              <a:rPr lang="en-US" sz="445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 </a:t>
            </a:r>
            <a:endParaRPr lang="pt-PT" sz="445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5550"/>
              </a:lnSpc>
              <a:tabLst>
                <a:tab pos="0" algn="l"/>
              </a:tabLst>
            </a:pPr>
            <a:endParaRPr lang="pt-PT" sz="445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3" name="Image 1" descr="preencoded.png"/>
          <p:cNvPicPr/>
          <p:nvPr/>
        </p:nvPicPr>
        <p:blipFill>
          <a:blip r:embed="rId4"/>
          <a:stretch/>
        </p:blipFill>
        <p:spPr>
          <a:xfrm>
            <a:off x="873360" y="411336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374" name="Text 2"/>
          <p:cNvSpPr/>
          <p:nvPr/>
        </p:nvSpPr>
        <p:spPr>
          <a:xfrm>
            <a:off x="900000" y="48661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A4A45"/>
                </a:solidFill>
                <a:latin typeface="Lato Bold"/>
                <a:ea typeface="Lato Bold"/>
              </a:rPr>
              <a:t>Criar Conta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3"/>
          <p:cNvSpPr/>
          <p:nvPr/>
        </p:nvSpPr>
        <p:spPr>
          <a:xfrm>
            <a:off x="900000" y="5400000"/>
            <a:ext cx="412056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Donos e prestadores de serviços.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6" name="Image 2" descr="preencoded.png"/>
          <p:cNvPicPr/>
          <p:nvPr/>
        </p:nvPicPr>
        <p:blipFill>
          <a:blip r:embed="rId5"/>
          <a:stretch/>
        </p:blipFill>
        <p:spPr>
          <a:xfrm>
            <a:off x="5220000" y="39600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377" name="Text 4"/>
          <p:cNvSpPr/>
          <p:nvPr/>
        </p:nvSpPr>
        <p:spPr>
          <a:xfrm>
            <a:off x="5265000" y="48600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A4A45"/>
                </a:solidFill>
                <a:latin typeface="Lato Bold"/>
                <a:ea typeface="Lato Bold"/>
              </a:rPr>
              <a:t>Pesquisar Serviços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5"/>
          <p:cNvSpPr/>
          <p:nvPr/>
        </p:nvSpPr>
        <p:spPr>
          <a:xfrm>
            <a:off x="5239440" y="5400000"/>
            <a:ext cx="412056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Por localização, tipo de serviço e avaliações.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9" name="Image 3" descr="preencoded.png"/>
          <p:cNvPicPr/>
          <p:nvPr/>
        </p:nvPicPr>
        <p:blipFill>
          <a:blip r:embed="rId6"/>
          <a:stretch/>
        </p:blipFill>
        <p:spPr>
          <a:xfrm>
            <a:off x="9693360" y="39600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380" name="Text 6"/>
          <p:cNvSpPr/>
          <p:nvPr/>
        </p:nvSpPr>
        <p:spPr>
          <a:xfrm>
            <a:off x="9720000" y="48600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A4A45"/>
                </a:solidFill>
                <a:latin typeface="Lato Bold"/>
                <a:ea typeface="Lato Bold"/>
              </a:rPr>
              <a:t>Agendar Serviços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7"/>
          <p:cNvSpPr/>
          <p:nvPr/>
        </p:nvSpPr>
        <p:spPr>
          <a:xfrm>
            <a:off x="9720000" y="5394600"/>
            <a:ext cx="412056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Reserva online com diferentes opções de pagamento.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2" name="Imagem 381"/>
          <p:cNvPicPr/>
          <p:nvPr/>
        </p:nvPicPr>
        <p:blipFill>
          <a:blip r:embed="rId7"/>
          <a:stretch/>
        </p:blipFill>
        <p:spPr>
          <a:xfrm>
            <a:off x="12830400" y="6480000"/>
            <a:ext cx="1749600" cy="174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Imagem 382"/>
          <p:cNvPicPr/>
          <p:nvPr/>
        </p:nvPicPr>
        <p:blipFill>
          <a:blip r:embed="rId2"/>
          <a:stretch/>
        </p:blipFill>
        <p:spPr>
          <a:xfrm>
            <a:off x="3800974" y="1355009"/>
            <a:ext cx="7344360" cy="6660000"/>
          </a:xfrm>
          <a:prstGeom prst="rect">
            <a:avLst/>
          </a:prstGeom>
          <a:ln w="0">
            <a:noFill/>
          </a:ln>
        </p:spPr>
      </p:pic>
      <p:pic>
        <p:nvPicPr>
          <p:cNvPr id="384" name="Imagem 383"/>
          <p:cNvPicPr/>
          <p:nvPr/>
        </p:nvPicPr>
        <p:blipFill>
          <a:blip r:embed="rId3"/>
          <a:stretch/>
        </p:blipFill>
        <p:spPr>
          <a:xfrm>
            <a:off x="12830400" y="6480000"/>
            <a:ext cx="1749600" cy="1749600"/>
          </a:xfrm>
          <a:prstGeom prst="rect">
            <a:avLst/>
          </a:prstGeom>
          <a:ln w="0"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B2F1D21-686C-4AE4-7FB9-780FFE50A703}"/>
              </a:ext>
            </a:extLst>
          </p:cNvPr>
          <p:cNvSpPr txBox="1"/>
          <p:nvPr/>
        </p:nvSpPr>
        <p:spPr>
          <a:xfrm>
            <a:off x="949515" y="214591"/>
            <a:ext cx="127313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200" dirty="0"/>
              <a:t>Diagrama de atividades – processo de pesquisa e reserva do serviço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Imagem 384"/>
          <p:cNvPicPr/>
          <p:nvPr/>
        </p:nvPicPr>
        <p:blipFill>
          <a:blip r:embed="rId2"/>
          <a:stretch/>
        </p:blipFill>
        <p:spPr>
          <a:xfrm>
            <a:off x="2459160" y="1215360"/>
            <a:ext cx="9712080" cy="5798880"/>
          </a:xfrm>
          <a:prstGeom prst="rect">
            <a:avLst/>
          </a:prstGeom>
          <a:ln w="0">
            <a:noFill/>
          </a:ln>
        </p:spPr>
      </p:pic>
      <p:pic>
        <p:nvPicPr>
          <p:cNvPr id="386" name="Imagem 385"/>
          <p:cNvPicPr/>
          <p:nvPr/>
        </p:nvPicPr>
        <p:blipFill>
          <a:blip r:embed="rId3"/>
          <a:stretch/>
        </p:blipFill>
        <p:spPr>
          <a:xfrm>
            <a:off x="12830400" y="6480000"/>
            <a:ext cx="1749600" cy="174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4630040" cy="2524680"/>
          </a:xfrm>
          <a:prstGeom prst="rect">
            <a:avLst/>
          </a:prstGeom>
          <a:ln w="0">
            <a:noFill/>
          </a:ln>
        </p:spPr>
      </p:pic>
      <p:sp>
        <p:nvSpPr>
          <p:cNvPr id="388" name="Text 0"/>
          <p:cNvSpPr/>
          <p:nvPr/>
        </p:nvSpPr>
        <p:spPr>
          <a:xfrm>
            <a:off x="707040" y="3241080"/>
            <a:ext cx="5249880" cy="63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949"/>
              </a:lnSpc>
              <a:tabLst>
                <a:tab pos="0" algn="l"/>
              </a:tabLst>
            </a:pPr>
            <a:r>
              <a:rPr lang="en-US" sz="3950" b="1" strike="noStrike" spc="-1">
                <a:solidFill>
                  <a:srgbClr val="282824"/>
                </a:solidFill>
                <a:latin typeface="Lato Bold"/>
                <a:ea typeface="Lato Bold"/>
              </a:rPr>
              <a:t>Ambiente de Utilização</a:t>
            </a:r>
            <a:endParaRPr lang="pt-PT" sz="3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"/>
          <p:cNvSpPr/>
          <p:nvPr/>
        </p:nvSpPr>
        <p:spPr>
          <a:xfrm>
            <a:off x="707040" y="5844600"/>
            <a:ext cx="13215960" cy="22680"/>
          </a:xfrm>
          <a:prstGeom prst="roundRect">
            <a:avLst>
              <a:gd name="adj" fmla="val 132557"/>
            </a:avLst>
          </a:prstGeom>
          <a:solidFill>
            <a:srgbClr val="CBC5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2"/>
          <p:cNvSpPr/>
          <p:nvPr/>
        </p:nvSpPr>
        <p:spPr>
          <a:xfrm>
            <a:off x="3949200" y="5137560"/>
            <a:ext cx="22680" cy="706680"/>
          </a:xfrm>
          <a:prstGeom prst="roundRect">
            <a:avLst>
              <a:gd name="adj" fmla="val 132557"/>
            </a:avLst>
          </a:prstGeom>
          <a:solidFill>
            <a:srgbClr val="CBC5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3"/>
          <p:cNvSpPr/>
          <p:nvPr/>
        </p:nvSpPr>
        <p:spPr>
          <a:xfrm>
            <a:off x="3733200" y="5617440"/>
            <a:ext cx="453960" cy="453960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4"/>
          <p:cNvSpPr/>
          <p:nvPr/>
        </p:nvSpPr>
        <p:spPr>
          <a:xfrm>
            <a:off x="3872520" y="5693040"/>
            <a:ext cx="1753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350"/>
              </a:lnSpc>
              <a:tabLst>
                <a:tab pos="0" algn="l"/>
              </a:tabLst>
            </a:pPr>
            <a:r>
              <a:rPr lang="en-US" sz="2350" b="1" strike="noStrike" spc="-1">
                <a:solidFill>
                  <a:srgbClr val="4A4A45"/>
                </a:solidFill>
                <a:latin typeface="Lato Bold"/>
                <a:ea typeface="Lato Bold"/>
              </a:rPr>
              <a:t>1</a:t>
            </a:r>
            <a:endParaRPr lang="pt-PT" sz="2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5"/>
          <p:cNvSpPr/>
          <p:nvPr/>
        </p:nvSpPr>
        <p:spPr>
          <a:xfrm>
            <a:off x="2697840" y="4175280"/>
            <a:ext cx="2524680" cy="31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449"/>
              </a:lnSpc>
              <a:tabLst>
                <a:tab pos="0" algn="l"/>
              </a:tabLst>
            </a:pPr>
            <a:r>
              <a:rPr lang="en-US" sz="1950" b="1" strike="noStrike" spc="-1">
                <a:solidFill>
                  <a:srgbClr val="4A4A45"/>
                </a:solidFill>
                <a:latin typeface="Lato Bold"/>
                <a:ea typeface="Lato Bold"/>
              </a:rPr>
              <a:t>Base de Dados</a:t>
            </a:r>
            <a:endParaRPr lang="pt-PT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6"/>
          <p:cNvSpPr/>
          <p:nvPr/>
        </p:nvSpPr>
        <p:spPr>
          <a:xfrm>
            <a:off x="909000" y="4612320"/>
            <a:ext cx="61030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500"/>
              </a:lnSpc>
              <a:tabLst>
                <a:tab pos="0" algn="l"/>
              </a:tabLst>
            </a:pPr>
            <a:r>
              <a:rPr lang="en-US" sz="1550" b="0" strike="noStrike" spc="-1">
                <a:solidFill>
                  <a:srgbClr val="4A4A45"/>
                </a:solidFill>
                <a:latin typeface="Lato"/>
                <a:ea typeface="Lato"/>
              </a:rPr>
              <a:t>Hospedagem em servidores na cloud.</a:t>
            </a:r>
            <a:endParaRPr lang="pt-PT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7"/>
          <p:cNvSpPr/>
          <p:nvPr/>
        </p:nvSpPr>
        <p:spPr>
          <a:xfrm>
            <a:off x="7303680" y="5844600"/>
            <a:ext cx="22680" cy="706680"/>
          </a:xfrm>
          <a:prstGeom prst="roundRect">
            <a:avLst>
              <a:gd name="adj" fmla="val 132557"/>
            </a:avLst>
          </a:prstGeom>
          <a:solidFill>
            <a:srgbClr val="CBC5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8"/>
          <p:cNvSpPr/>
          <p:nvPr/>
        </p:nvSpPr>
        <p:spPr>
          <a:xfrm>
            <a:off x="7088040" y="5617440"/>
            <a:ext cx="453960" cy="453960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9"/>
          <p:cNvSpPr/>
          <p:nvPr/>
        </p:nvSpPr>
        <p:spPr>
          <a:xfrm>
            <a:off x="7227360" y="5693040"/>
            <a:ext cx="1753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350"/>
              </a:lnSpc>
              <a:tabLst>
                <a:tab pos="0" algn="l"/>
              </a:tabLst>
            </a:pPr>
            <a:r>
              <a:rPr lang="en-US" sz="2350" b="1" strike="noStrike" spc="-1">
                <a:solidFill>
                  <a:srgbClr val="4A4A45"/>
                </a:solidFill>
                <a:latin typeface="Lato Bold"/>
                <a:ea typeface="Lato Bold"/>
              </a:rPr>
              <a:t>2</a:t>
            </a:r>
            <a:endParaRPr lang="pt-PT" sz="2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10"/>
          <p:cNvSpPr/>
          <p:nvPr/>
        </p:nvSpPr>
        <p:spPr>
          <a:xfrm>
            <a:off x="6052680" y="6753600"/>
            <a:ext cx="2524680" cy="31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449"/>
              </a:lnSpc>
              <a:tabLst>
                <a:tab pos="0" algn="l"/>
              </a:tabLst>
            </a:pPr>
            <a:r>
              <a:rPr lang="en-US" sz="1950" b="1" strike="noStrike" spc="-1">
                <a:solidFill>
                  <a:srgbClr val="4A4A45"/>
                </a:solidFill>
                <a:latin typeface="Lato Bold"/>
                <a:ea typeface="Lato Bold"/>
              </a:rPr>
              <a:t>Segurança</a:t>
            </a:r>
            <a:endParaRPr lang="pt-PT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11"/>
          <p:cNvSpPr/>
          <p:nvPr/>
        </p:nvSpPr>
        <p:spPr>
          <a:xfrm>
            <a:off x="4263480" y="7190280"/>
            <a:ext cx="61030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500"/>
              </a:lnSpc>
              <a:tabLst>
                <a:tab pos="0" algn="l"/>
              </a:tabLst>
            </a:pPr>
            <a:r>
              <a:rPr lang="en-US" sz="1550" b="0" strike="noStrike" spc="-1">
                <a:solidFill>
                  <a:srgbClr val="4A4A45"/>
                </a:solidFill>
                <a:latin typeface="Lato"/>
                <a:ea typeface="Lato"/>
              </a:rPr>
              <a:t>Autenticação de utilizadores através de Google, Facebook ou e-mail.</a:t>
            </a:r>
            <a:endParaRPr lang="pt-PT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2"/>
          <p:cNvSpPr/>
          <p:nvPr/>
        </p:nvSpPr>
        <p:spPr>
          <a:xfrm>
            <a:off x="10658160" y="5137560"/>
            <a:ext cx="22680" cy="706680"/>
          </a:xfrm>
          <a:prstGeom prst="roundRect">
            <a:avLst>
              <a:gd name="adj" fmla="val 132557"/>
            </a:avLst>
          </a:prstGeom>
          <a:solidFill>
            <a:srgbClr val="CBC5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3"/>
          <p:cNvSpPr/>
          <p:nvPr/>
        </p:nvSpPr>
        <p:spPr>
          <a:xfrm>
            <a:off x="10442520" y="5617440"/>
            <a:ext cx="453960" cy="453960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14"/>
          <p:cNvSpPr/>
          <p:nvPr/>
        </p:nvSpPr>
        <p:spPr>
          <a:xfrm>
            <a:off x="10581840" y="5693040"/>
            <a:ext cx="1753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350"/>
              </a:lnSpc>
              <a:tabLst>
                <a:tab pos="0" algn="l"/>
              </a:tabLst>
            </a:pPr>
            <a:r>
              <a:rPr lang="en-US" sz="2350" b="1" strike="noStrike" spc="-1">
                <a:solidFill>
                  <a:srgbClr val="4A4A45"/>
                </a:solidFill>
                <a:latin typeface="Lato Bold"/>
                <a:ea typeface="Lato Bold"/>
              </a:rPr>
              <a:t>3</a:t>
            </a:r>
            <a:endParaRPr lang="pt-PT" sz="2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15"/>
          <p:cNvSpPr/>
          <p:nvPr/>
        </p:nvSpPr>
        <p:spPr>
          <a:xfrm>
            <a:off x="9407160" y="4175280"/>
            <a:ext cx="2524680" cy="31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449"/>
              </a:lnSpc>
              <a:tabLst>
                <a:tab pos="0" algn="l"/>
              </a:tabLst>
            </a:pPr>
            <a:r>
              <a:rPr lang="en-US" sz="1950" b="1" strike="noStrike" spc="-1">
                <a:solidFill>
                  <a:srgbClr val="4A4A45"/>
                </a:solidFill>
                <a:latin typeface="Lato Bold"/>
                <a:ea typeface="Lato Bold"/>
              </a:rPr>
              <a:t>Acessibilidade</a:t>
            </a:r>
            <a:endParaRPr lang="pt-PT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16"/>
          <p:cNvSpPr/>
          <p:nvPr/>
        </p:nvSpPr>
        <p:spPr>
          <a:xfrm>
            <a:off x="7617960" y="4612320"/>
            <a:ext cx="61030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500"/>
              </a:lnSpc>
              <a:tabLst>
                <a:tab pos="0" algn="l"/>
              </a:tabLst>
            </a:pPr>
            <a:r>
              <a:rPr lang="en-US" sz="1550" b="0" strike="noStrike" spc="-1">
                <a:solidFill>
                  <a:srgbClr val="4A4A45"/>
                </a:solidFill>
                <a:latin typeface="Lato"/>
                <a:ea typeface="Lato"/>
              </a:rPr>
              <a:t>Disponível em aplicativos móveis e navegadores web.</a:t>
            </a:r>
            <a:endParaRPr lang="pt-PT" sz="15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5" name="Imagem 404"/>
          <p:cNvPicPr/>
          <p:nvPr/>
        </p:nvPicPr>
        <p:blipFill>
          <a:blip r:embed="rId4"/>
          <a:stretch/>
        </p:blipFill>
        <p:spPr>
          <a:xfrm>
            <a:off x="12865680" y="6515280"/>
            <a:ext cx="1714320" cy="1714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4630040" cy="2532600"/>
          </a:xfrm>
          <a:prstGeom prst="rect">
            <a:avLst/>
          </a:prstGeom>
          <a:ln w="0">
            <a:noFill/>
          </a:ln>
        </p:spPr>
      </p:pic>
      <p:sp>
        <p:nvSpPr>
          <p:cNvPr id="407" name="Text 0"/>
          <p:cNvSpPr/>
          <p:nvPr/>
        </p:nvSpPr>
        <p:spPr>
          <a:xfrm>
            <a:off x="709200" y="3089880"/>
            <a:ext cx="6890040" cy="6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949"/>
              </a:lnSpc>
              <a:tabLst>
                <a:tab pos="0" algn="l"/>
              </a:tabLst>
            </a:pPr>
            <a:r>
              <a:rPr lang="en-US" sz="3950" b="1" strike="noStrike" spc="-1">
                <a:solidFill>
                  <a:srgbClr val="282824"/>
                </a:solidFill>
                <a:latin typeface="Lato Bold"/>
                <a:ea typeface="Lato Bold"/>
              </a:rPr>
              <a:t>Roadmap de Desenvolvimento</a:t>
            </a:r>
            <a:endParaRPr lang="pt-PT" sz="39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8" name="Image 1" descr="preencoded.png"/>
          <p:cNvPicPr/>
          <p:nvPr/>
        </p:nvPicPr>
        <p:blipFill>
          <a:blip r:embed="rId4"/>
          <a:stretch/>
        </p:blipFill>
        <p:spPr>
          <a:xfrm>
            <a:off x="709200" y="4026960"/>
            <a:ext cx="1012680" cy="1215360"/>
          </a:xfrm>
          <a:prstGeom prst="rect">
            <a:avLst/>
          </a:prstGeom>
          <a:ln w="0">
            <a:noFill/>
          </a:ln>
        </p:spPr>
      </p:pic>
      <p:sp>
        <p:nvSpPr>
          <p:cNvPr id="409" name="Text 1"/>
          <p:cNvSpPr/>
          <p:nvPr/>
        </p:nvSpPr>
        <p:spPr>
          <a:xfrm>
            <a:off x="2026080" y="422964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2"/>
          <p:cNvSpPr/>
          <p:nvPr/>
        </p:nvSpPr>
        <p:spPr>
          <a:xfrm>
            <a:off x="2026080" y="4667760"/>
            <a:ext cx="11894760" cy="32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550" b="0" strike="noStrike" spc="-1">
                <a:solidFill>
                  <a:srgbClr val="4A4A45"/>
                </a:solidFill>
                <a:latin typeface="Lato"/>
                <a:ea typeface="Lato"/>
              </a:rPr>
              <a:t>Conexão entre donos de animais e hotéis para pets.</a:t>
            </a:r>
            <a:endParaRPr lang="pt-PT" sz="15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1" name="Image 2" descr="preencoded.png"/>
          <p:cNvPicPr/>
          <p:nvPr/>
        </p:nvPicPr>
        <p:blipFill>
          <a:blip r:embed="rId5"/>
          <a:stretch/>
        </p:blipFill>
        <p:spPr>
          <a:xfrm>
            <a:off x="709200" y="5242680"/>
            <a:ext cx="1012680" cy="1215360"/>
          </a:xfrm>
          <a:prstGeom prst="rect">
            <a:avLst/>
          </a:prstGeom>
          <a:ln w="0">
            <a:noFill/>
          </a:ln>
        </p:spPr>
      </p:pic>
      <p:sp>
        <p:nvSpPr>
          <p:cNvPr id="412" name="Text 3"/>
          <p:cNvSpPr/>
          <p:nvPr/>
        </p:nvSpPr>
        <p:spPr>
          <a:xfrm>
            <a:off x="2026080" y="544536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4"/>
          <p:cNvSpPr/>
          <p:nvPr/>
        </p:nvSpPr>
        <p:spPr>
          <a:xfrm>
            <a:off x="2026080" y="5883480"/>
            <a:ext cx="11894760" cy="32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550" b="0" strike="noStrike" spc="-1">
                <a:solidFill>
                  <a:srgbClr val="4A4A45"/>
                </a:solidFill>
                <a:latin typeface="Lato"/>
                <a:ea typeface="Lato"/>
              </a:rPr>
              <a:t>Expansão da plataforma com novos serviços.</a:t>
            </a:r>
            <a:endParaRPr lang="pt-PT" sz="15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4" name="Image 3" descr="preencoded.png"/>
          <p:cNvPicPr/>
          <p:nvPr/>
        </p:nvPicPr>
        <p:blipFill>
          <a:blip r:embed="rId6"/>
          <a:stretch/>
        </p:blipFill>
        <p:spPr>
          <a:xfrm>
            <a:off x="709200" y="6458400"/>
            <a:ext cx="1012680" cy="1215360"/>
          </a:xfrm>
          <a:prstGeom prst="rect">
            <a:avLst/>
          </a:prstGeom>
          <a:ln w="0">
            <a:noFill/>
          </a:ln>
        </p:spPr>
      </p:pic>
      <p:sp>
        <p:nvSpPr>
          <p:cNvPr id="415" name="Text 5"/>
          <p:cNvSpPr/>
          <p:nvPr/>
        </p:nvSpPr>
        <p:spPr>
          <a:xfrm>
            <a:off x="2026080" y="666108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6"/>
          <p:cNvSpPr/>
          <p:nvPr/>
        </p:nvSpPr>
        <p:spPr>
          <a:xfrm>
            <a:off x="2026080" y="7099200"/>
            <a:ext cx="11894760" cy="32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550" b="0" strike="noStrike" spc="-1">
                <a:solidFill>
                  <a:srgbClr val="4A4A45"/>
                </a:solidFill>
                <a:latin typeface="Lato"/>
                <a:ea typeface="Lato"/>
              </a:rPr>
              <a:t>Melhorias e otimizações da plataforma.</a:t>
            </a:r>
            <a:endParaRPr lang="pt-PT" sz="15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7" name="Imagem 416"/>
          <p:cNvPicPr/>
          <p:nvPr/>
        </p:nvPicPr>
        <p:blipFill>
          <a:blip r:embed="rId7"/>
          <a:stretch/>
        </p:blipFill>
        <p:spPr>
          <a:xfrm>
            <a:off x="12865680" y="6515280"/>
            <a:ext cx="1714320" cy="1714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Image 0" descr="preencoded.png"/>
          <p:cNvPicPr/>
          <p:nvPr/>
        </p:nvPicPr>
        <p:blipFill>
          <a:blip r:embed="rId3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419" name="Text 0"/>
          <p:cNvSpPr/>
          <p:nvPr/>
        </p:nvSpPr>
        <p:spPr>
          <a:xfrm>
            <a:off x="793800" y="304596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strike="noStrike" spc="-1">
                <a:solidFill>
                  <a:srgbClr val="282824"/>
                </a:solidFill>
                <a:latin typeface="Lato Bold"/>
                <a:ea typeface="Lato Bold"/>
              </a:rPr>
              <a:t>Próximos Passos</a:t>
            </a:r>
            <a:endParaRPr lang="pt-PT" sz="4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1"/>
          <p:cNvSpPr/>
          <p:nvPr/>
        </p:nvSpPr>
        <p:spPr>
          <a:xfrm>
            <a:off x="793800" y="4095000"/>
            <a:ext cx="7556040" cy="10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O desenvolvimento do Pet-O-Tel será realizado de forma incremental, com foco na entrega de valor para os utilizadores. A próxima etapa será a melhora  na conexão entre donos de animais e hotéis para pets.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292</Words>
  <Application>Microsoft Office PowerPoint</Application>
  <PresentationFormat>Personalizados</PresentationFormat>
  <Paragraphs>62</Paragraphs>
  <Slides>10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8</vt:i4>
      </vt:variant>
      <vt:variant>
        <vt:lpstr>Títulos dos diapositivos</vt:lpstr>
      </vt:variant>
      <vt:variant>
        <vt:i4>10</vt:i4>
      </vt:variant>
    </vt:vector>
  </HeadingPairs>
  <TitlesOfParts>
    <vt:vector size="26" baseType="lpstr">
      <vt:lpstr>Arial</vt:lpstr>
      <vt:lpstr>Calibri</vt:lpstr>
      <vt:lpstr>Calibri Light</vt:lpstr>
      <vt:lpstr>Lato</vt:lpstr>
      <vt:lpstr>Lato Bold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Daniel Oliveira</cp:lastModifiedBy>
  <cp:revision>7</cp:revision>
  <dcterms:created xsi:type="dcterms:W3CDTF">2025-02-26T16:28:41Z</dcterms:created>
  <dcterms:modified xsi:type="dcterms:W3CDTF">2025-02-27T11:58:22Z</dcterms:modified>
  <dc:language>pt-PT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