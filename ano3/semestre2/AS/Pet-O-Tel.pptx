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25077-FB87-5A86-4898-488384805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9A164C-A957-E52C-B31B-D70BA4455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04F2FCD-DAD7-341C-FCEA-F1161F6FD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69439-A7A7-4E15-9655-6EF2736004A0}" type="datetimeFigureOut">
              <a:rPr lang="pt-PT" smtClean="0"/>
              <a:t>26/02/2025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2793ACA-57D9-4E62-B9E0-A6B04D8F2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11ACD39-58D5-B107-4A46-D13B13A18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B30B-2C4F-43E9-BC7C-4B38438FF70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01617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B76630-DF1D-5518-0AA9-050F2F5B8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15AA7EB-77D8-9698-0033-C6785B157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E57662A-B3BC-5E2E-B6E4-B4C793D82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69439-A7A7-4E15-9655-6EF2736004A0}" type="datetimeFigureOut">
              <a:rPr lang="pt-PT" smtClean="0"/>
              <a:t>26/02/2025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A7B49F0-0736-9093-7E72-FC0D9593E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5BEBAE9-520C-C1C1-1F91-07CE2C1F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B30B-2C4F-43E9-BC7C-4B38438FF70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09458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317A69-5D2E-A6AA-C1F0-8F7BF2CB6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54863F8-2CC4-C170-BF9C-F38484B53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97DC18E-E4D3-1B4F-7CA3-FF9BF7EBB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69439-A7A7-4E15-9655-6EF2736004A0}" type="datetimeFigureOut">
              <a:rPr lang="pt-PT" smtClean="0"/>
              <a:t>26/02/2025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394850B-DFF3-4565-1928-0E266E2F7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10DBECC-641C-6699-B028-BB535D0A3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B30B-2C4F-43E9-BC7C-4B38438FF70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04538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F50227-82B0-8D23-C5EE-D45DFA583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C3C7547-A606-EEE0-4980-E611D53E0C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775873C-5D81-2D1A-2FFE-48A6CFE6B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C32173D-3514-AA6D-4C70-51EC0D4C4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69439-A7A7-4E15-9655-6EF2736004A0}" type="datetimeFigureOut">
              <a:rPr lang="pt-PT" smtClean="0"/>
              <a:t>26/02/2025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A656F692-729E-7A4C-F40D-75708E8F8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3C2CA68-B142-0BA3-8228-5BCB3070B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B30B-2C4F-43E9-BC7C-4B38438FF70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90934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424BD-66B2-5DE0-E55F-8FA438B3F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E4011DE-8C3D-7C31-864F-974BEF493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40712F1A-6D22-5553-E33A-BA698DD5F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9EEFB306-EB80-6354-33A4-8EC836058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29AD3C84-0DE9-9DD9-E5CE-DB0ECE04E0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4D09086C-7623-C5AA-0922-2F282474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69439-A7A7-4E15-9655-6EF2736004A0}" type="datetimeFigureOut">
              <a:rPr lang="pt-PT" smtClean="0"/>
              <a:t>26/02/2025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250BF00E-8D14-7D4E-AF4F-386E4936D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92692B1D-E688-1164-9828-55878FE5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B30B-2C4F-43E9-BC7C-4B38438FF70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00897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7104FF-9564-8B51-2AA5-1038668FF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49DEF888-56C5-8685-46C5-CCD39C906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69439-A7A7-4E15-9655-6EF2736004A0}" type="datetimeFigureOut">
              <a:rPr lang="pt-PT" smtClean="0"/>
              <a:t>26/02/2025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7C4D8F75-5048-629C-47B9-7565CC8D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A6E459D6-0B4D-2810-7D21-FEF669A7D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B30B-2C4F-43E9-BC7C-4B38438FF70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58989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A0D71A01-BEB2-7D92-9852-86B73A136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69439-A7A7-4E15-9655-6EF2736004A0}" type="datetimeFigureOut">
              <a:rPr lang="pt-PT" smtClean="0"/>
              <a:t>26/02/2025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F680B265-886E-085E-30EF-7EE3E8C76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552BFAA-2284-D0C1-AEFF-BD31EC8E9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B30B-2C4F-43E9-BC7C-4B38438FF70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60273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ED12A-7384-CD80-1E10-A694BF9AA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B64AC12-DC2A-D1FC-BEA0-371D5F02E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89724C1D-596A-1CEF-C586-CDEF33AA4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297A5F79-8522-8A48-48A1-1ED38EC54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69439-A7A7-4E15-9655-6EF2736004A0}" type="datetimeFigureOut">
              <a:rPr lang="pt-PT" smtClean="0"/>
              <a:t>26/02/2025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2885BB4-6900-B46A-6EC0-0742CFDC0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34FA4427-D6AC-5D53-9EAB-B9649A05F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B30B-2C4F-43E9-BC7C-4B38438FF70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27177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7F78C5-9DF2-7E32-53D5-BF60C79B1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AF08C9BC-AB1B-DAE9-81EA-571ECE5DC0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1749FEFE-6999-F603-A9C5-B0CBA0EB9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BAC157C3-EAC7-8AFD-A067-3DCF8E3A2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69439-A7A7-4E15-9655-6EF2736004A0}" type="datetimeFigureOut">
              <a:rPr lang="pt-PT" smtClean="0"/>
              <a:t>26/02/2025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7DE20B9A-BB1D-7257-1E09-FA878380E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67161CC-4F1D-1646-93BC-1809090F8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B30B-2C4F-43E9-BC7C-4B38438FF70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66530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994AC-B23A-245A-5576-203F34DD0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AAA63D4B-1B01-F4B0-6B95-768189763C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E0663A3-36BF-A87A-0796-22DCC2CD0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69439-A7A7-4E15-9655-6EF2736004A0}" type="datetimeFigureOut">
              <a:rPr lang="pt-PT" smtClean="0"/>
              <a:t>26/02/2025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2BEF528-5DB6-A496-08C3-279BEE3C3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A6E1F47-A72C-2360-35B6-66FAFE84B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B30B-2C4F-43E9-BC7C-4B38438FF70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716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48ADF54-45A8-CD8A-D204-A989E7569B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BC063628-40B2-4CE6-5969-0FB0E7754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05EAE03-4224-DFD2-E7D6-8B3EA3102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69439-A7A7-4E15-9655-6EF2736004A0}" type="datetimeFigureOut">
              <a:rPr lang="pt-PT" smtClean="0"/>
              <a:t>26/02/2025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A4DBD79-8735-7292-B86C-51C286059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E713B40-2C26-0407-8833-CA028819C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B30B-2C4F-43E9-BC7C-4B38438FF70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3538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ED23D066-0D9F-0683-25CE-D71FB0CEC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F1FB7C8-21FF-7178-DF11-F6E8B88BF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6B2FCA7-E986-B4B0-D8BE-9930B77C26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369439-A7A7-4E15-9655-6EF2736004A0}" type="datetimeFigureOut">
              <a:rPr lang="pt-PT" smtClean="0"/>
              <a:t>26/02/2025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D52FDE0-4930-5D99-A235-6795DD857E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ED45F6A-9A17-49EA-E42E-ABC104F47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4AB30B-2C4F-43E9-BC7C-4B38438FF70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56232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61% dos donos de animais de estimação veem seus pets como um membro da  família; gasto mensal é de R$189, em média - Blog do Léo Santos">
            <a:extLst>
              <a:ext uri="{FF2B5EF4-FFF2-40B4-BE49-F238E27FC236}">
                <a16:creationId xmlns:a16="http://schemas.microsoft.com/office/drawing/2014/main" id="{40574228-6FED-0834-84FE-BA34DC382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63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486A1C1-9F45-8376-C667-32780E133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703237"/>
            <a:ext cx="9144000" cy="1023006"/>
          </a:xfrm>
        </p:spPr>
        <p:txBody>
          <a:bodyPr>
            <a:normAutofit/>
          </a:bodyPr>
          <a:lstStyle/>
          <a:p>
            <a:r>
              <a:rPr lang="pt-PT" dirty="0" err="1">
                <a:solidFill>
                  <a:srgbClr val="FFFFFF"/>
                </a:solidFill>
              </a:rPr>
              <a:t>Pet</a:t>
            </a:r>
            <a:r>
              <a:rPr lang="pt-PT" dirty="0">
                <a:solidFill>
                  <a:srgbClr val="FFFFFF"/>
                </a:solidFill>
              </a:rPr>
              <a:t>-O-</a:t>
            </a:r>
            <a:r>
              <a:rPr lang="pt-PT" dirty="0" err="1">
                <a:solidFill>
                  <a:srgbClr val="FFFFFF"/>
                </a:solidFill>
              </a:rPr>
              <a:t>Tel</a:t>
            </a:r>
            <a:endParaRPr lang="pt-PT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B38197-1295-D439-BA35-89C8A89769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57593"/>
            <a:ext cx="9144000" cy="1098395"/>
          </a:xfrm>
        </p:spPr>
        <p:txBody>
          <a:bodyPr>
            <a:normAutofit/>
          </a:bodyPr>
          <a:lstStyle/>
          <a:p>
            <a:r>
              <a:rPr lang="pt-PT" dirty="0">
                <a:solidFill>
                  <a:srgbClr val="FFFFFF"/>
                </a:solidFill>
              </a:rPr>
              <a:t>Plataforma digital para conectar donos de animais e prestadores de serviços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439E41E-D9E8-9D89-8FC6-35BF48CCE33E}"/>
              </a:ext>
            </a:extLst>
          </p:cNvPr>
          <p:cNvSpPr txBox="1"/>
          <p:nvPr/>
        </p:nvSpPr>
        <p:spPr>
          <a:xfrm>
            <a:off x="0" y="5394323"/>
            <a:ext cx="65227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Grupo A espera do Juan</a:t>
            </a:r>
            <a:br>
              <a:rPr lang="pt-PT" dirty="0"/>
            </a:br>
            <a:r>
              <a:rPr lang="pt-PT" dirty="0"/>
              <a:t>Daniel Oliveira, 115359</a:t>
            </a:r>
          </a:p>
          <a:p>
            <a:r>
              <a:rPr lang="pt-PT" dirty="0"/>
              <a:t>Juan Carpinteiro, 103583</a:t>
            </a:r>
          </a:p>
          <a:p>
            <a:r>
              <a:rPr lang="pt-PT" dirty="0"/>
              <a:t>Alexandre Silva, 119583</a:t>
            </a:r>
          </a:p>
          <a:p>
            <a:r>
              <a:rPr lang="pt-PT"/>
              <a:t>José Silva, 103248</a:t>
            </a:r>
            <a:endParaRPr lang="pt-PT" dirty="0"/>
          </a:p>
        </p:txBody>
      </p:sp>
      <p:pic>
        <p:nvPicPr>
          <p:cNvPr id="6" name="Imagem 5" descr="Uma imagem com preto, escuridão, captura de ecrã, preto e branco&#10;&#10;Os conteúdos gerados por IA poderão estar incorretos.">
            <a:extLst>
              <a:ext uri="{FF2B5EF4-FFF2-40B4-BE49-F238E27FC236}">
                <a16:creationId xmlns:a16="http://schemas.microsoft.com/office/drawing/2014/main" id="{6421F258-4293-9C23-5153-443138AE12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3025" y="-257676"/>
            <a:ext cx="340995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7706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otel para animais de estimação, modelo de design de logotipo. logotipo do  hotel de animais de">
            <a:extLst>
              <a:ext uri="{FF2B5EF4-FFF2-40B4-BE49-F238E27FC236}">
                <a16:creationId xmlns:a16="http://schemas.microsoft.com/office/drawing/2014/main" id="{38F7DE74-C58E-B097-38BE-E886C19B9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350" y="4331368"/>
            <a:ext cx="1880185" cy="1880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F1C227D-087F-75FD-A32B-1C95CF1FA6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55" r="8970"/>
          <a:stretch/>
        </p:blipFill>
        <p:spPr>
          <a:xfrm>
            <a:off x="8773553" y="4331367"/>
            <a:ext cx="2164982" cy="1880186"/>
          </a:xfrm>
          <a:prstGeom prst="rect">
            <a:avLst/>
          </a:prstGeom>
        </p:spPr>
      </p:pic>
      <p:pic>
        <p:nvPicPr>
          <p:cNvPr id="2052" name="Picture 4" descr="Person Walk With Dog On Leash Line Icon Owner Pet Vector Outline Sign -  Arte vetorial de stock e mais imagens de Símbolo de ícone - iStock">
            <a:extLst>
              <a:ext uri="{FF2B5EF4-FFF2-40B4-BE49-F238E27FC236}">
                <a16:creationId xmlns:a16="http://schemas.microsoft.com/office/drawing/2014/main" id="{125C7E2B-AE40-DEDF-FF10-ED279B05E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9485" y="4331367"/>
            <a:ext cx="1880186" cy="1880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destrador Logo Imagens – Download Grátis no Freepik">
            <a:extLst>
              <a:ext uri="{FF2B5EF4-FFF2-40B4-BE49-F238E27FC236}">
                <a16:creationId xmlns:a16="http://schemas.microsoft.com/office/drawing/2014/main" id="{93B8B665-EDED-9548-5E2A-BBA465E0E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417" y="4331367"/>
            <a:ext cx="1880186" cy="1880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B7E8096-0980-A54B-432E-8FFB7F750B82}"/>
              </a:ext>
            </a:extLst>
          </p:cNvPr>
          <p:cNvSpPr txBox="1"/>
          <p:nvPr/>
        </p:nvSpPr>
        <p:spPr>
          <a:xfrm>
            <a:off x="449178" y="334276"/>
            <a:ext cx="412282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dirty="0">
                <a:latin typeface="+mj-lt"/>
              </a:rPr>
              <a:t>Quem somos?</a:t>
            </a:r>
          </a:p>
          <a:p>
            <a:endParaRPr lang="pt-PT" sz="2400" dirty="0">
              <a:latin typeface="+mj-lt"/>
            </a:endParaRPr>
          </a:p>
          <a:p>
            <a:r>
              <a:rPr lang="pt-PT" sz="2400" dirty="0">
                <a:latin typeface="+mj-lt"/>
              </a:rPr>
              <a:t>O que fazemos?</a:t>
            </a:r>
          </a:p>
          <a:p>
            <a:endParaRPr lang="pt-PT" sz="2400" dirty="0">
              <a:latin typeface="+mj-lt"/>
            </a:endParaRPr>
          </a:p>
          <a:p>
            <a:r>
              <a:rPr lang="pt-PT" sz="2400" dirty="0">
                <a:latin typeface="+mj-lt"/>
              </a:rPr>
              <a:t>Área de atuação?</a:t>
            </a:r>
          </a:p>
          <a:p>
            <a:endParaRPr lang="pt-PT" sz="2400" dirty="0">
              <a:latin typeface="+mj-lt"/>
            </a:endParaRPr>
          </a:p>
          <a:p>
            <a:r>
              <a:rPr lang="pt-PT" sz="2400" dirty="0">
                <a:latin typeface="+mj-lt"/>
              </a:rPr>
              <a:t>Público alvo?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056E17D-79F5-8BB1-9461-CBCCCCEF5B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3153" y="850983"/>
            <a:ext cx="1876425" cy="2428875"/>
          </a:xfrm>
          <a:prstGeom prst="rect">
            <a:avLst/>
          </a:prstGeom>
        </p:spPr>
      </p:pic>
      <p:cxnSp>
        <p:nvCxnSpPr>
          <p:cNvPr id="7" name="Conexão reta unidirecional 6">
            <a:extLst>
              <a:ext uri="{FF2B5EF4-FFF2-40B4-BE49-F238E27FC236}">
                <a16:creationId xmlns:a16="http://schemas.microsoft.com/office/drawing/2014/main" id="{8CBC93BE-5E5E-3526-856C-6F5CDD6F7754}"/>
              </a:ext>
            </a:extLst>
          </p:cNvPr>
          <p:cNvCxnSpPr>
            <a:cxnSpLocks/>
          </p:cNvCxnSpPr>
          <p:nvPr/>
        </p:nvCxnSpPr>
        <p:spPr>
          <a:xfrm flipH="1">
            <a:off x="2261937" y="3207668"/>
            <a:ext cx="2911216" cy="12680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exão reta unidirecional 11">
            <a:extLst>
              <a:ext uri="{FF2B5EF4-FFF2-40B4-BE49-F238E27FC236}">
                <a16:creationId xmlns:a16="http://schemas.microsoft.com/office/drawing/2014/main" id="{F3C85039-9A1A-8F0F-6EF4-4D1EF7A9D4DD}"/>
              </a:ext>
            </a:extLst>
          </p:cNvPr>
          <p:cNvCxnSpPr>
            <a:cxnSpLocks/>
          </p:cNvCxnSpPr>
          <p:nvPr/>
        </p:nvCxnSpPr>
        <p:spPr>
          <a:xfrm flipH="1">
            <a:off x="4792178" y="3207668"/>
            <a:ext cx="854643" cy="12680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exão reta unidirecional 14">
            <a:extLst>
              <a:ext uri="{FF2B5EF4-FFF2-40B4-BE49-F238E27FC236}">
                <a16:creationId xmlns:a16="http://schemas.microsoft.com/office/drawing/2014/main" id="{BFE7F47F-1086-D90F-F637-46D9B6842502}"/>
              </a:ext>
            </a:extLst>
          </p:cNvPr>
          <p:cNvCxnSpPr>
            <a:cxnSpLocks/>
          </p:cNvCxnSpPr>
          <p:nvPr/>
        </p:nvCxnSpPr>
        <p:spPr>
          <a:xfrm>
            <a:off x="6352674" y="3279858"/>
            <a:ext cx="301066" cy="10515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Conexão reta unidirecional 17">
            <a:extLst>
              <a:ext uri="{FF2B5EF4-FFF2-40B4-BE49-F238E27FC236}">
                <a16:creationId xmlns:a16="http://schemas.microsoft.com/office/drawing/2014/main" id="{07DB77F1-7B5B-7DD8-83AB-F4CAFA362BF9}"/>
              </a:ext>
            </a:extLst>
          </p:cNvPr>
          <p:cNvCxnSpPr>
            <a:cxnSpLocks/>
          </p:cNvCxnSpPr>
          <p:nvPr/>
        </p:nvCxnSpPr>
        <p:spPr>
          <a:xfrm>
            <a:off x="7049578" y="3011932"/>
            <a:ext cx="2206717" cy="14638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793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6C1F73B-7C66-89C9-6B13-9967716DFBE0}"/>
              </a:ext>
            </a:extLst>
          </p:cNvPr>
          <p:cNvSpPr txBox="1"/>
          <p:nvPr/>
        </p:nvSpPr>
        <p:spPr>
          <a:xfrm>
            <a:off x="411480" y="991443"/>
            <a:ext cx="4443154" cy="1087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Contexto e Oportunidade (Porque agora?)</a:t>
            </a:r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10353DA-ECD0-3D7A-F91F-D84A42D8AA2E}"/>
              </a:ext>
            </a:extLst>
          </p:cNvPr>
          <p:cNvSpPr txBox="1"/>
          <p:nvPr/>
        </p:nvSpPr>
        <p:spPr>
          <a:xfrm>
            <a:off x="411480" y="2684095"/>
            <a:ext cx="4443154" cy="3492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Tendência de crescimento do setor “pet”;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Dificuldade dos donos em encontrar serviços;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Prestadores de serviços com pouca visibilidade no mercado;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A digitalização facilita a pesquisa, comparação e reserva de serviços.</a:t>
            </a:r>
          </a:p>
        </p:txBody>
      </p:sp>
      <p:pic>
        <p:nvPicPr>
          <p:cNvPr id="3074" name="Picture 2" descr="Animais de companhia em Portugal e Europa! | Mundo Cão">
            <a:extLst>
              <a:ext uri="{FF2B5EF4-FFF2-40B4-BE49-F238E27FC236}">
                <a16:creationId xmlns:a16="http://schemas.microsoft.com/office/drawing/2014/main" id="{CD00617C-3B99-BAD2-9289-B9E2F18DA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85816" y="1654358"/>
            <a:ext cx="6440424" cy="3493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1360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9" name="Rectangle 410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71BB3CA-E98D-9CDA-8457-E670827BF6FA}"/>
              </a:ext>
            </a:extLst>
          </p:cNvPr>
          <p:cNvSpPr txBox="1"/>
          <p:nvPr/>
        </p:nvSpPr>
        <p:spPr>
          <a:xfrm>
            <a:off x="630936" y="640080"/>
            <a:ext cx="4818888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Visão geral da Transformação Digital e Geração de Valor</a:t>
            </a:r>
          </a:p>
        </p:txBody>
      </p:sp>
      <p:sp>
        <p:nvSpPr>
          <p:cNvPr id="4110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CFDA996-2423-E434-87AB-F043E5E8419A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Nova forma de trabalhar: Plataforma digital para pesquisa, comparação e marcação de serviços;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Valor para os clientes: Facilidade de acesso aos serviços;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Valor aos prestadores de serviços: Maior visibilidade e captação de clientes.</a:t>
            </a:r>
          </a:p>
        </p:txBody>
      </p:sp>
      <p:pic>
        <p:nvPicPr>
          <p:cNvPr id="4098" name="Picture 2" descr="Gráfico de rosca dividido em 4 seções. Diagrama redondo colorido. Ícone de  roda infográfico | Vetor Premium">
            <a:extLst>
              <a:ext uri="{FF2B5EF4-FFF2-40B4-BE49-F238E27FC236}">
                <a16:creationId xmlns:a16="http://schemas.microsoft.com/office/drawing/2014/main" id="{A3A8239C-C321-D750-E899-24B1B55AD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699516"/>
            <a:ext cx="5458968" cy="5458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26796A2-F1FA-17BF-3A27-BFFE141A2424}"/>
              </a:ext>
            </a:extLst>
          </p:cNvPr>
          <p:cNvSpPr txBox="1"/>
          <p:nvPr/>
        </p:nvSpPr>
        <p:spPr>
          <a:xfrm>
            <a:off x="8179228" y="3105834"/>
            <a:ext cx="1283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Donos de animais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7D738C0-CF1A-E2A6-0EFB-545CA2D40FB9}"/>
              </a:ext>
            </a:extLst>
          </p:cNvPr>
          <p:cNvSpPr txBox="1"/>
          <p:nvPr/>
        </p:nvSpPr>
        <p:spPr>
          <a:xfrm rot="19463854">
            <a:off x="7170820" y="2221651"/>
            <a:ext cx="1336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 err="1"/>
              <a:t>Pet</a:t>
            </a:r>
            <a:r>
              <a:rPr lang="pt-PT" dirty="0"/>
              <a:t> </a:t>
            </a:r>
            <a:r>
              <a:rPr lang="pt-PT" dirty="0" err="1"/>
              <a:t>Walking</a:t>
            </a:r>
            <a:endParaRPr lang="pt-PT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9A8582F-350B-3D16-3719-3FA733F10326}"/>
              </a:ext>
            </a:extLst>
          </p:cNvPr>
          <p:cNvSpPr txBox="1"/>
          <p:nvPr/>
        </p:nvSpPr>
        <p:spPr>
          <a:xfrm rot="2526031">
            <a:off x="9324956" y="2197347"/>
            <a:ext cx="1098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 err="1"/>
              <a:t>Pet</a:t>
            </a:r>
            <a:r>
              <a:rPr lang="pt-PT" dirty="0"/>
              <a:t> Hotel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B36A162-BFA4-7F04-C45F-5D9A9DA7C800}"/>
              </a:ext>
            </a:extLst>
          </p:cNvPr>
          <p:cNvSpPr txBox="1"/>
          <p:nvPr/>
        </p:nvSpPr>
        <p:spPr>
          <a:xfrm rot="2999078">
            <a:off x="7249153" y="4250173"/>
            <a:ext cx="1179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err="1"/>
              <a:t>Pet</a:t>
            </a:r>
            <a:r>
              <a:rPr lang="pt-PT" dirty="0"/>
              <a:t> </a:t>
            </a:r>
            <a:r>
              <a:rPr lang="pt-PT" dirty="0" err="1"/>
              <a:t>Sitting</a:t>
            </a:r>
            <a:endParaRPr lang="pt-PT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DF060FE-8716-8CA3-6092-798F49DF9B9D}"/>
              </a:ext>
            </a:extLst>
          </p:cNvPr>
          <p:cNvSpPr txBox="1"/>
          <p:nvPr/>
        </p:nvSpPr>
        <p:spPr>
          <a:xfrm rot="19206820">
            <a:off x="9213579" y="4205422"/>
            <a:ext cx="1320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 err="1"/>
              <a:t>Pet</a:t>
            </a:r>
            <a:r>
              <a:rPr lang="pt-PT" dirty="0"/>
              <a:t> Training</a:t>
            </a:r>
          </a:p>
        </p:txBody>
      </p:sp>
    </p:spTree>
    <p:extLst>
      <p:ext uri="{BB962C8B-B14F-4D97-AF65-F5344CB8AC3E}">
        <p14:creationId xmlns:p14="http://schemas.microsoft.com/office/powerpoint/2010/main" val="317877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44DA9FB-4E60-96B6-AD45-081716E0E6BF}"/>
              </a:ext>
            </a:extLst>
          </p:cNvPr>
          <p:cNvSpPr txBox="1"/>
          <p:nvPr/>
        </p:nvSpPr>
        <p:spPr>
          <a:xfrm>
            <a:off x="630936" y="640080"/>
            <a:ext cx="4818888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Funcionalidades Esperadas da Plataforma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3FA49BE-C7D7-3617-C390-C82F6DD08A24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Pesquisa e comparação de serviços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Agendamento online e pagamento integrados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Sistema de avaliações e feedback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Perfil e gestão de serviços para prestadores</a:t>
            </a:r>
          </a:p>
        </p:txBody>
      </p:sp>
      <p:pic>
        <p:nvPicPr>
          <p:cNvPr id="5" name="Imagem 4" descr="Uma imagem com texto, captura de ecrã, diagrama, Paralelo&#10;&#10;Os conteúdos gerados por IA poderão estar incorretos.">
            <a:extLst>
              <a:ext uri="{FF2B5EF4-FFF2-40B4-BE49-F238E27FC236}">
                <a16:creationId xmlns:a16="http://schemas.microsoft.com/office/drawing/2014/main" id="{27928DBE-5759-9952-57C7-B79BD6497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148"/>
          <a:stretch/>
        </p:blipFill>
        <p:spPr>
          <a:xfrm>
            <a:off x="5409650" y="649224"/>
            <a:ext cx="6768959" cy="528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59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231BF440-39FA-4087-84CC-2EEC0BBDA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4" name="Picture 4" descr="Pagamento Online Seguro e Prático Payfy">
            <a:extLst>
              <a:ext uri="{FF2B5EF4-FFF2-40B4-BE49-F238E27FC236}">
                <a16:creationId xmlns:a16="http://schemas.microsoft.com/office/drawing/2014/main" id="{38921B62-1D8C-1562-6716-A2D5F0A07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7" r="-1" b="422"/>
          <a:stretch/>
        </p:blipFill>
        <p:spPr bwMode="auto">
          <a:xfrm>
            <a:off x="4883025" y="10"/>
            <a:ext cx="7308975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Será que deve investir numa plataforma de Análise Web Pago?">
            <a:extLst>
              <a:ext uri="{FF2B5EF4-FFF2-40B4-BE49-F238E27FC236}">
                <a16:creationId xmlns:a16="http://schemas.microsoft.com/office/drawing/2014/main" id="{208A0460-F4D4-1AA4-EBAA-19282ED99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06" r="2" b="6065"/>
          <a:stretch/>
        </p:blipFill>
        <p:spPr bwMode="auto">
          <a:xfrm>
            <a:off x="4883025" y="3493008"/>
            <a:ext cx="7308975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5131" name="Freeform: Shape 5130">
            <a:extLst>
              <a:ext uri="{FF2B5EF4-FFF2-40B4-BE49-F238E27FC236}">
                <a16:creationId xmlns:a16="http://schemas.microsoft.com/office/drawing/2014/main" id="{F04E4CBA-303B-48BD-8451-C2701CB0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133" name="Freeform: Shape 5132">
            <a:extLst>
              <a:ext uri="{FF2B5EF4-FFF2-40B4-BE49-F238E27FC236}">
                <a16:creationId xmlns:a16="http://schemas.microsoft.com/office/drawing/2014/main" id="{F6CA58B3-AFCC-4A40-9882-50D50808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7332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4E716F2-4F88-4885-CC5E-A43C5962F235}"/>
              </a:ext>
            </a:extLst>
          </p:cNvPr>
          <p:cNvSpPr txBox="1"/>
          <p:nvPr/>
        </p:nvSpPr>
        <p:spPr>
          <a:xfrm>
            <a:off x="448056" y="859536"/>
            <a:ext cx="4832802" cy="1243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Tecnologias Usadas</a:t>
            </a:r>
          </a:p>
        </p:txBody>
      </p:sp>
      <p:sp>
        <p:nvSpPr>
          <p:cNvPr id="5135" name="Rectangle 5134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5137" name="Rectangle 5136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544" y="2194560"/>
            <a:ext cx="4892040" cy="18288"/>
          </a:xfrm>
          <a:prstGeom prst="rect">
            <a:avLst/>
          </a:prstGeom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39" name="Rectangle 5138">
            <a:extLst>
              <a:ext uri="{FF2B5EF4-FFF2-40B4-BE49-F238E27FC236}">
                <a16:creationId xmlns:a16="http://schemas.microsoft.com/office/drawing/2014/main" id="{CA00AE6B-AA30-4CF8-BA6F-339B780AD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544" y="2194560"/>
            <a:ext cx="4892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9EBF157-E4F6-DCCA-0E7D-360ED60B0C36}"/>
              </a:ext>
            </a:extLst>
          </p:cNvPr>
          <p:cNvSpPr txBox="1"/>
          <p:nvPr/>
        </p:nvSpPr>
        <p:spPr>
          <a:xfrm>
            <a:off x="448056" y="2512611"/>
            <a:ext cx="4832803" cy="3664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Plataforma Wed (potencial para uma app móvel);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Integração com sistemas de pagamento online;</a:t>
            </a:r>
          </a:p>
        </p:txBody>
      </p:sp>
    </p:spTree>
    <p:extLst>
      <p:ext uri="{BB962C8B-B14F-4D97-AF65-F5344CB8AC3E}">
        <p14:creationId xmlns:p14="http://schemas.microsoft.com/office/powerpoint/2010/main" val="2731699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63A2C61-CA7D-6F9F-F251-580C4B8F6A70}"/>
              </a:ext>
            </a:extLst>
          </p:cNvPr>
          <p:cNvSpPr txBox="1"/>
          <p:nvPr/>
        </p:nvSpPr>
        <p:spPr>
          <a:xfrm>
            <a:off x="804291" y="0"/>
            <a:ext cx="4766330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Diferencias</a:t>
            </a:r>
            <a:r>
              <a:rPr 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com o </a:t>
            </a:r>
            <a:r>
              <a:rPr lang="en-US" sz="36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procedimento</a:t>
            </a:r>
            <a:r>
              <a:rPr 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atual</a:t>
            </a:r>
            <a:endParaRPr lang="en-US" sz="36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4295C7C-3ECB-FD70-11DA-0E590D4A55A4}"/>
              </a:ext>
            </a:extLst>
          </p:cNvPr>
          <p:cNvSpPr txBox="1"/>
          <p:nvPr/>
        </p:nvSpPr>
        <p:spPr>
          <a:xfrm>
            <a:off x="804290" y="1454051"/>
            <a:ext cx="4765949" cy="33534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Plataforma </a:t>
            </a:r>
            <a:r>
              <a:rPr lang="en-US" dirty="0" err="1">
                <a:solidFill>
                  <a:schemeClr val="tx2"/>
                </a:solidFill>
              </a:rPr>
              <a:t>completa</a:t>
            </a:r>
            <a:r>
              <a:rPr lang="en-US" dirty="0">
                <a:solidFill>
                  <a:schemeClr val="tx2"/>
                </a:solidFill>
              </a:rPr>
              <a:t> para </a:t>
            </a:r>
            <a:r>
              <a:rPr lang="en-US" dirty="0" err="1">
                <a:solidFill>
                  <a:schemeClr val="tx2"/>
                </a:solidFill>
              </a:rPr>
              <a:t>pesquisa</a:t>
            </a:r>
            <a:r>
              <a:rPr lang="en-US" dirty="0">
                <a:solidFill>
                  <a:schemeClr val="tx2"/>
                </a:solidFill>
              </a:rPr>
              <a:t>, </a:t>
            </a:r>
            <a:r>
              <a:rPr lang="en-US" dirty="0" err="1">
                <a:solidFill>
                  <a:schemeClr val="tx2"/>
                </a:solidFill>
              </a:rPr>
              <a:t>reserva</a:t>
            </a:r>
            <a:r>
              <a:rPr lang="en-US" dirty="0">
                <a:solidFill>
                  <a:schemeClr val="tx2"/>
                </a:solidFill>
              </a:rPr>
              <a:t> e </a:t>
            </a:r>
            <a:r>
              <a:rPr lang="en-US" dirty="0" err="1">
                <a:solidFill>
                  <a:schemeClr val="tx2"/>
                </a:solidFill>
              </a:rPr>
              <a:t>pagamento</a:t>
            </a:r>
            <a:r>
              <a:rPr lang="en-US" dirty="0">
                <a:solidFill>
                  <a:schemeClr val="tx2"/>
                </a:solidFill>
              </a:rPr>
              <a:t>;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2"/>
                </a:solidFill>
              </a:rPr>
              <a:t>Inclusão</a:t>
            </a:r>
            <a:r>
              <a:rPr lang="en-US" dirty="0">
                <a:solidFill>
                  <a:schemeClr val="tx2"/>
                </a:solidFill>
              </a:rPr>
              <a:t> de </a:t>
            </a:r>
            <a:r>
              <a:rPr lang="en-US" dirty="0" err="1">
                <a:solidFill>
                  <a:schemeClr val="tx2"/>
                </a:solidFill>
              </a:rPr>
              <a:t>prestadores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menos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conhecidos</a:t>
            </a:r>
            <a:r>
              <a:rPr lang="en-US" dirty="0">
                <a:solidFill>
                  <a:schemeClr val="tx2"/>
                </a:solidFill>
              </a:rPr>
              <a:t>;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2"/>
                </a:solidFill>
              </a:rPr>
              <a:t>Experiência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intuitiva</a:t>
            </a:r>
            <a:r>
              <a:rPr lang="en-US" dirty="0">
                <a:solidFill>
                  <a:schemeClr val="tx2"/>
                </a:solidFill>
              </a:rPr>
              <a:t> e </a:t>
            </a:r>
            <a:r>
              <a:rPr lang="en-US" dirty="0" err="1">
                <a:solidFill>
                  <a:schemeClr val="tx2"/>
                </a:solidFill>
              </a:rPr>
              <a:t>confiável</a:t>
            </a:r>
            <a:r>
              <a:rPr lang="en-US" dirty="0">
                <a:solidFill>
                  <a:schemeClr val="tx2"/>
                </a:solidFill>
              </a:rPr>
              <a:t> para </a:t>
            </a:r>
            <a:r>
              <a:rPr lang="en-US" dirty="0" err="1">
                <a:solidFill>
                  <a:schemeClr val="tx2"/>
                </a:solidFill>
              </a:rPr>
              <a:t>os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utilizadores</a:t>
            </a:r>
            <a:r>
              <a:rPr lang="en-US" dirty="0">
                <a:solidFill>
                  <a:schemeClr val="tx2"/>
                </a:solidFill>
              </a:rPr>
              <a:t>;</a:t>
            </a:r>
          </a:p>
        </p:txBody>
      </p:sp>
      <p:grpSp>
        <p:nvGrpSpPr>
          <p:cNvPr id="6155" name="Group 6154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6156" name="Freeform: Shape 6155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57" name="Freeform: Shape 6156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58" name="Freeform: Shape 6157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59" name="Freeform: Shape 6158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146" name="Picture 2" descr="User friendly sign or stamp Royalty Free Vector Image">
            <a:extLst>
              <a:ext uri="{FF2B5EF4-FFF2-40B4-BE49-F238E27FC236}">
                <a16:creationId xmlns:a16="http://schemas.microsoft.com/office/drawing/2014/main" id="{1BCB56BE-F6E8-B052-1CAB-E475A185AC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027"/>
          <a:stretch/>
        </p:blipFill>
        <p:spPr bwMode="auto">
          <a:xfrm>
            <a:off x="7708392" y="1947691"/>
            <a:ext cx="4142232" cy="388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4E351277-165A-7737-15C3-C65035AD6692}"/>
              </a:ext>
            </a:extLst>
          </p:cNvPr>
          <p:cNvSpPr txBox="1"/>
          <p:nvPr/>
        </p:nvSpPr>
        <p:spPr>
          <a:xfrm>
            <a:off x="851409" y="3429001"/>
            <a:ext cx="4625455" cy="5654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Impactos</a:t>
            </a:r>
            <a:r>
              <a:rPr 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esperados</a:t>
            </a:r>
            <a:endParaRPr lang="en-US" sz="36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8D90569-4611-8022-B449-451110F329F6}"/>
              </a:ext>
            </a:extLst>
          </p:cNvPr>
          <p:cNvSpPr txBox="1"/>
          <p:nvPr/>
        </p:nvSpPr>
        <p:spPr>
          <a:xfrm>
            <a:off x="851326" y="4156026"/>
            <a:ext cx="4765949" cy="16778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2"/>
                </a:solidFill>
              </a:rPr>
              <a:t>Maior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facilidade</a:t>
            </a:r>
            <a:r>
              <a:rPr lang="en-US" dirty="0">
                <a:solidFill>
                  <a:schemeClr val="tx2"/>
                </a:solidFill>
              </a:rPr>
              <a:t> para </a:t>
            </a:r>
            <a:r>
              <a:rPr lang="en-US" dirty="0" err="1">
                <a:solidFill>
                  <a:schemeClr val="tx2"/>
                </a:solidFill>
              </a:rPr>
              <a:t>os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donos</a:t>
            </a:r>
            <a:r>
              <a:rPr lang="en-US" dirty="0">
                <a:solidFill>
                  <a:schemeClr val="tx2"/>
                </a:solidFill>
              </a:rPr>
              <a:t> de </a:t>
            </a:r>
            <a:r>
              <a:rPr lang="en-US" dirty="0" err="1">
                <a:solidFill>
                  <a:schemeClr val="tx2"/>
                </a:solidFill>
              </a:rPr>
              <a:t>animais</a:t>
            </a:r>
            <a:r>
              <a:rPr lang="en-US" dirty="0">
                <a:solidFill>
                  <a:schemeClr val="tx2"/>
                </a:solidFill>
              </a:rPr>
              <a:t>;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2"/>
                </a:solidFill>
              </a:rPr>
              <a:t>Expansão</a:t>
            </a:r>
            <a:r>
              <a:rPr lang="en-US" dirty="0">
                <a:solidFill>
                  <a:schemeClr val="tx2"/>
                </a:solidFill>
              </a:rPr>
              <a:t> do mercado para </a:t>
            </a:r>
            <a:r>
              <a:rPr lang="en-US" dirty="0" err="1">
                <a:solidFill>
                  <a:schemeClr val="tx2"/>
                </a:solidFill>
              </a:rPr>
              <a:t>prestadores</a:t>
            </a:r>
            <a:r>
              <a:rPr lang="en-US" dirty="0">
                <a:solidFill>
                  <a:schemeClr val="tx2"/>
                </a:solidFill>
              </a:rPr>
              <a:t> de </a:t>
            </a:r>
            <a:r>
              <a:rPr lang="en-US" dirty="0" err="1">
                <a:solidFill>
                  <a:schemeClr val="tx2"/>
                </a:solidFill>
              </a:rPr>
              <a:t>serviços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220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45DC3C1-1550-CA1B-EA8E-249DF55F88E8}"/>
              </a:ext>
            </a:extLst>
          </p:cNvPr>
          <p:cNvSpPr txBox="1"/>
          <p:nvPr/>
        </p:nvSpPr>
        <p:spPr>
          <a:xfrm>
            <a:off x="2462462" y="152780"/>
            <a:ext cx="7267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/>
              <a:t>Próximos Passos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FAAE2C4-A24F-EF2F-EE50-745D08F93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62" y="737555"/>
            <a:ext cx="11363875" cy="538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772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80" name="Group 7174">
            <a:extLst>
              <a:ext uri="{FF2B5EF4-FFF2-40B4-BE49-F238E27FC236}">
                <a16:creationId xmlns:a16="http://schemas.microsoft.com/office/drawing/2014/main" id="{26176824-7946-6969-3841-DD5C101DF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622"/>
            <a:ext cx="12192000" cy="6894986"/>
            <a:chOff x="0" y="-7622"/>
            <a:chExt cx="12192000" cy="6894986"/>
          </a:xfrm>
        </p:grpSpPr>
        <p:sp>
          <p:nvSpPr>
            <p:cNvPr id="7176" name="Rectangle 7175">
              <a:extLst>
                <a:ext uri="{FF2B5EF4-FFF2-40B4-BE49-F238E27FC236}">
                  <a16:creationId xmlns:a16="http://schemas.microsoft.com/office/drawing/2014/main" id="{C5675077-BFF1-36B0-EA6D-B4599DBA72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77" name="Rectangle 7176">
              <a:extLst>
                <a:ext uri="{FF2B5EF4-FFF2-40B4-BE49-F238E27FC236}">
                  <a16:creationId xmlns:a16="http://schemas.microsoft.com/office/drawing/2014/main" id="{F637796C-75D6-BAA5-036C-0E9E7F85B7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78" name="Rectangle 7177">
              <a:extLst>
                <a:ext uri="{FF2B5EF4-FFF2-40B4-BE49-F238E27FC236}">
                  <a16:creationId xmlns:a16="http://schemas.microsoft.com/office/drawing/2014/main" id="{6BFBD50A-DBB5-04FA-45B9-183C84E4C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79" name="Rectangle 7178">
              <a:extLst>
                <a:ext uri="{FF2B5EF4-FFF2-40B4-BE49-F238E27FC236}">
                  <a16:creationId xmlns:a16="http://schemas.microsoft.com/office/drawing/2014/main" id="{E2659E1E-0E9F-DC4F-40A9-CFA17EDF7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8217318" y="7059"/>
              <a:ext cx="3974283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4000"/>
                  </a:schemeClr>
                </a:gs>
                <a:gs pos="41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pic>
        <p:nvPicPr>
          <p:cNvPr id="7170" name="Picture 2" descr="animais de estimação">
            <a:extLst>
              <a:ext uri="{FF2B5EF4-FFF2-40B4-BE49-F238E27FC236}">
                <a16:creationId xmlns:a16="http://schemas.microsoft.com/office/drawing/2014/main" id="{2C6FE39D-3994-37CD-C258-95C7F5639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98" r="1" b="1"/>
          <a:stretch/>
        </p:blipFill>
        <p:spPr bwMode="auto">
          <a:xfrm>
            <a:off x="122716" y="115738"/>
            <a:ext cx="11938653" cy="6618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9BCA55E-9D75-C476-34AB-6660C88794D1}"/>
              </a:ext>
            </a:extLst>
          </p:cNvPr>
          <p:cNvSpPr txBox="1"/>
          <p:nvPr/>
        </p:nvSpPr>
        <p:spPr>
          <a:xfrm>
            <a:off x="842262" y="352928"/>
            <a:ext cx="104995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dirty="0">
                <a:latin typeface="Aptos Display" panose="020B0004020202020204" pitchFamily="34" charset="0"/>
              </a:rPr>
              <a:t>Porque os nossos amigos de quatro patas merecem o melhor, criámos o </a:t>
            </a:r>
            <a:r>
              <a:rPr lang="pt-PT" sz="2400" dirty="0" err="1">
                <a:latin typeface="Aptos Display" panose="020B0004020202020204" pitchFamily="34" charset="0"/>
              </a:rPr>
              <a:t>Pet</a:t>
            </a:r>
            <a:r>
              <a:rPr lang="pt-PT" sz="2400" dirty="0">
                <a:latin typeface="Aptos Display" panose="020B0004020202020204" pitchFamily="34" charset="0"/>
              </a:rPr>
              <a:t>-O-</a:t>
            </a:r>
            <a:r>
              <a:rPr lang="pt-PT" sz="2400" dirty="0" err="1">
                <a:latin typeface="Aptos Display" panose="020B0004020202020204" pitchFamily="34" charset="0"/>
              </a:rPr>
              <a:t>Tel</a:t>
            </a:r>
            <a:r>
              <a:rPr lang="pt-PT" sz="2400" dirty="0">
                <a:latin typeface="Aptos Display" panose="020B0004020202020204" pitchFamily="34" charset="0"/>
              </a:rPr>
              <a:t>! Obrigado por nos ouvirem e estamos ansiosos pelo vosso feedback!</a:t>
            </a:r>
          </a:p>
        </p:txBody>
      </p:sp>
    </p:spTree>
    <p:extLst>
      <p:ext uri="{BB962C8B-B14F-4D97-AF65-F5344CB8AC3E}">
        <p14:creationId xmlns:p14="http://schemas.microsoft.com/office/powerpoint/2010/main" val="22338234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268</Words>
  <Application>Microsoft Office PowerPoint</Application>
  <PresentationFormat>Ecrã Panorâmico</PresentationFormat>
  <Paragraphs>44</Paragraphs>
  <Slides>9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Tema do Office</vt:lpstr>
      <vt:lpstr>Pet-O-Tel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Oliveira</dc:creator>
  <cp:lastModifiedBy>Daniel Oliveira</cp:lastModifiedBy>
  <cp:revision>2</cp:revision>
  <dcterms:created xsi:type="dcterms:W3CDTF">2025-02-26T17:30:09Z</dcterms:created>
  <dcterms:modified xsi:type="dcterms:W3CDTF">2025-02-26T19:04:30Z</dcterms:modified>
</cp:coreProperties>
</file>