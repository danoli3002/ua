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</p:sldIdLst>
  <p:sldSz cx="12192000" cy="6858000"/>
  <p:notesSz cx="6858000" cy="9144000"/>
  <p:embeddedFontLst>
    <p:embeddedFont>
      <p:font typeface="Abril Fatface" panose="02000503000000020003" pitchFamily="2" charset="0"/>
      <p:regular r:id="rId10"/>
    </p:embeddedFont>
    <p:embeddedFont>
      <p:font typeface="Barlow Condensed" panose="00000506000000000000" pitchFamily="2" charset="0"/>
      <p:regular r:id="rId11"/>
      <p:bold r:id="rId12"/>
      <p:italic r:id="rId13"/>
      <p:boldItalic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Griffy" panose="020B0604020202020204" charset="0"/>
      <p:regular r:id="rId19"/>
    </p:embeddedFont>
    <p:embeddedFont>
      <p:font typeface="Homemade Apple" panose="020B0604020202020204" charset="0"/>
      <p:regular r:id="rId20"/>
    </p:embeddedFont>
    <p:embeddedFont>
      <p:font typeface="Lexend Deca SemiBold" panose="020B0604020202020204" charset="0"/>
      <p:regular r:id="rId21"/>
      <p:bold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8c8311da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28c8311da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178fc2a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178fc2a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d01c190bf_4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1d01c190bf_4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178fc2af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3178fc2af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d01c190bf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d01c190bf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1d01c190bf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1d01c190bf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7059600" y="0"/>
            <a:ext cx="5132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541075" y="1290850"/>
            <a:ext cx="8598300" cy="33741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2785925" y="1541750"/>
            <a:ext cx="8031600" cy="28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435675" y="5087500"/>
            <a:ext cx="7703700" cy="8946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355892">
            <a:off x="10424907" y="417311"/>
            <a:ext cx="1427555" cy="1587130"/>
          </a:xfrm>
          <a:custGeom>
            <a:avLst/>
            <a:gdLst/>
            <a:ahLst/>
            <a:cxnLst/>
            <a:rect l="l" t="t" r="r" b="b"/>
            <a:pathLst>
              <a:path w="1053738" h="1171527" extrusionOk="0">
                <a:moveTo>
                  <a:pt x="526869" y="0"/>
                </a:moveTo>
                <a:cubicBezTo>
                  <a:pt x="817851" y="0"/>
                  <a:pt x="1053738" y="235887"/>
                  <a:pt x="1053738" y="526869"/>
                </a:cubicBezTo>
                <a:cubicBezTo>
                  <a:pt x="1053738" y="817851"/>
                  <a:pt x="817851" y="1053738"/>
                  <a:pt x="526869" y="1053738"/>
                </a:cubicBezTo>
                <a:cubicBezTo>
                  <a:pt x="490496" y="1053738"/>
                  <a:pt x="454985" y="1050052"/>
                  <a:pt x="420687" y="1043034"/>
                </a:cubicBezTo>
                <a:lnTo>
                  <a:pt x="388563" y="1033062"/>
                </a:lnTo>
                <a:lnTo>
                  <a:pt x="147609" y="1171527"/>
                </a:lnTo>
                <a:lnTo>
                  <a:pt x="147063" y="890630"/>
                </a:lnTo>
                <a:lnTo>
                  <a:pt x="89981" y="821447"/>
                </a:lnTo>
                <a:cubicBezTo>
                  <a:pt x="33172" y="737358"/>
                  <a:pt x="0" y="635987"/>
                  <a:pt x="0" y="526869"/>
                </a:cubicBezTo>
                <a:cubicBezTo>
                  <a:pt x="0" y="235887"/>
                  <a:pt x="235887" y="0"/>
                  <a:pt x="5268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2541075" y="508750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00" y="0"/>
            <a:ext cx="1461000" cy="6858000"/>
          </a:xfrm>
          <a:prstGeom prst="rect">
            <a:avLst/>
          </a:prstGeom>
          <a:solidFill>
            <a:srgbClr val="FF545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652596" y="5087500"/>
            <a:ext cx="74868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accent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st title">
  <p:cSld name="CUSTOM_18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15650" y="421105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3593600" y="0"/>
            <a:ext cx="85983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 rot="355892">
            <a:off x="10305157" y="215136"/>
            <a:ext cx="1427555" cy="1587130"/>
          </a:xfrm>
          <a:custGeom>
            <a:avLst/>
            <a:gdLst/>
            <a:ahLst/>
            <a:cxnLst/>
            <a:rect l="l" t="t" r="r" b="b"/>
            <a:pathLst>
              <a:path w="1053738" h="1171527" extrusionOk="0">
                <a:moveTo>
                  <a:pt x="526869" y="0"/>
                </a:moveTo>
                <a:cubicBezTo>
                  <a:pt x="817851" y="0"/>
                  <a:pt x="1053738" y="235887"/>
                  <a:pt x="1053738" y="526869"/>
                </a:cubicBezTo>
                <a:cubicBezTo>
                  <a:pt x="1053738" y="817851"/>
                  <a:pt x="817851" y="1053738"/>
                  <a:pt x="526869" y="1053738"/>
                </a:cubicBezTo>
                <a:cubicBezTo>
                  <a:pt x="490496" y="1053738"/>
                  <a:pt x="454985" y="1050052"/>
                  <a:pt x="420687" y="1043034"/>
                </a:cubicBezTo>
                <a:lnTo>
                  <a:pt x="388563" y="1033062"/>
                </a:lnTo>
                <a:lnTo>
                  <a:pt x="147609" y="1171527"/>
                </a:lnTo>
                <a:lnTo>
                  <a:pt x="147063" y="890630"/>
                </a:lnTo>
                <a:lnTo>
                  <a:pt x="89981" y="821447"/>
                </a:lnTo>
                <a:cubicBezTo>
                  <a:pt x="33172" y="737358"/>
                  <a:pt x="0" y="635987"/>
                  <a:pt x="0" y="526869"/>
                </a:cubicBezTo>
                <a:cubicBezTo>
                  <a:pt x="0" y="235887"/>
                  <a:pt x="235887" y="0"/>
                  <a:pt x="5268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5691725" y="1583975"/>
            <a:ext cx="53226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5691700" y="2988275"/>
            <a:ext cx="53226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7972925" y="0"/>
            <a:ext cx="42189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54800" y="1728150"/>
            <a:ext cx="11282400" cy="4716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349400" y="412950"/>
            <a:ext cx="10426800" cy="89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720400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78325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3"/>
          </p:nvPr>
        </p:nvSpPr>
        <p:spPr>
          <a:xfrm>
            <a:off x="720400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4"/>
          </p:nvPr>
        </p:nvSpPr>
        <p:spPr>
          <a:xfrm>
            <a:off x="4678325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3247950" y="398400"/>
            <a:ext cx="5696100" cy="644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66650" y="398400"/>
            <a:ext cx="11258700" cy="60612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2401350" y="3155075"/>
            <a:ext cx="7389300" cy="207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2401350" y="2230625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5834450" y="1599800"/>
            <a:ext cx="6357300" cy="525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11424950" y="0"/>
            <a:ext cx="767100" cy="6858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594350" y="2531675"/>
            <a:ext cx="5706000" cy="33258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2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1629250" y="836300"/>
            <a:ext cx="9795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0" y="150"/>
            <a:ext cx="8495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899875" y="833575"/>
            <a:ext cx="10851600" cy="557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ubTitle" idx="1"/>
          </p:nvPr>
        </p:nvSpPr>
        <p:spPr>
          <a:xfrm>
            <a:off x="1349400" y="1967350"/>
            <a:ext cx="4907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1349400" y="1028650"/>
            <a:ext cx="79242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2"/>
          </p:nvPr>
        </p:nvSpPr>
        <p:spPr>
          <a:xfrm>
            <a:off x="1349402" y="2627525"/>
            <a:ext cx="49074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CUSTOM_6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 rot="-3940686">
            <a:off x="477803" y="319352"/>
            <a:ext cx="1023388" cy="1137784"/>
          </a:xfrm>
          <a:custGeom>
            <a:avLst/>
            <a:gdLst/>
            <a:ahLst/>
            <a:cxnLst/>
            <a:rect l="l" t="t" r="r" b="b"/>
            <a:pathLst>
              <a:path w="1053738" h="1171527" extrusionOk="0">
                <a:moveTo>
                  <a:pt x="526869" y="0"/>
                </a:moveTo>
                <a:cubicBezTo>
                  <a:pt x="817851" y="0"/>
                  <a:pt x="1053738" y="235887"/>
                  <a:pt x="1053738" y="526869"/>
                </a:cubicBezTo>
                <a:cubicBezTo>
                  <a:pt x="1053738" y="817851"/>
                  <a:pt x="817851" y="1053738"/>
                  <a:pt x="526869" y="1053738"/>
                </a:cubicBezTo>
                <a:cubicBezTo>
                  <a:pt x="490496" y="1053738"/>
                  <a:pt x="454985" y="1050052"/>
                  <a:pt x="420687" y="1043034"/>
                </a:cubicBezTo>
                <a:lnTo>
                  <a:pt x="388563" y="1033062"/>
                </a:lnTo>
                <a:lnTo>
                  <a:pt x="147609" y="1171527"/>
                </a:lnTo>
                <a:lnTo>
                  <a:pt x="147063" y="890630"/>
                </a:lnTo>
                <a:lnTo>
                  <a:pt x="89981" y="821447"/>
                </a:lnTo>
                <a:cubicBezTo>
                  <a:pt x="33172" y="737358"/>
                  <a:pt x="0" y="635987"/>
                  <a:pt x="0" y="526869"/>
                </a:cubicBezTo>
                <a:cubicBezTo>
                  <a:pt x="0" y="235887"/>
                  <a:pt x="235887" y="0"/>
                  <a:pt x="526869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3247950" y="412800"/>
            <a:ext cx="5696100" cy="644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54800" y="1728150"/>
            <a:ext cx="11282400" cy="3410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9"/>
          <p:cNvGrpSpPr/>
          <p:nvPr/>
        </p:nvGrpSpPr>
        <p:grpSpPr>
          <a:xfrm rot="10800000">
            <a:off x="562541" y="621100"/>
            <a:ext cx="679116" cy="478293"/>
            <a:chOff x="621403" y="597265"/>
            <a:chExt cx="1588204" cy="1118814"/>
          </a:xfrm>
        </p:grpSpPr>
        <p:sp>
          <p:nvSpPr>
            <p:cNvPr id="73" name="Google Shape;73;p9"/>
            <p:cNvSpPr/>
            <p:nvPr/>
          </p:nvSpPr>
          <p:spPr>
            <a:xfrm>
              <a:off x="1448058" y="597265"/>
              <a:ext cx="761549" cy="1118814"/>
            </a:xfrm>
            <a:custGeom>
              <a:avLst/>
              <a:gdLst/>
              <a:ahLst/>
              <a:cxnLst/>
              <a:rect l="l" t="t" r="r" b="b"/>
              <a:pathLst>
                <a:path w="761549" h="1118814" extrusionOk="0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621403" y="597265"/>
              <a:ext cx="761549" cy="1118814"/>
            </a:xfrm>
            <a:custGeom>
              <a:avLst/>
              <a:gdLst/>
              <a:ahLst/>
              <a:cxnLst/>
              <a:rect l="l" t="t" r="r" b="b"/>
              <a:pathLst>
                <a:path w="761549" h="1118814" extrusionOk="0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9"/>
          <p:cNvSpPr/>
          <p:nvPr/>
        </p:nvSpPr>
        <p:spPr>
          <a:xfrm>
            <a:off x="10842600" y="5517275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6858000" y="5517275"/>
            <a:ext cx="3984600" cy="8946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6858000" y="5517275"/>
            <a:ext cx="39405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bg>
      <p:bgPr>
        <a:solidFill>
          <a:schemeClr val="accen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454800" y="787050"/>
            <a:ext cx="11282400" cy="52839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548200" y="1846618"/>
            <a:ext cx="11095500" cy="34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5442300" y="119300"/>
            <a:ext cx="1307400" cy="13074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454800" y="1599800"/>
            <a:ext cx="10463100" cy="52584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11424950" y="0"/>
            <a:ext cx="767100" cy="6858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1"/>
          <p:cNvSpPr/>
          <p:nvPr/>
        </p:nvSpPr>
        <p:spPr>
          <a:xfrm>
            <a:off x="1349400" y="412950"/>
            <a:ext cx="9568500" cy="8946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053456" y="1739450"/>
            <a:ext cx="6406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2"/>
          </p:nvPr>
        </p:nvSpPr>
        <p:spPr>
          <a:xfrm>
            <a:off x="2053456" y="3344343"/>
            <a:ext cx="6406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3"/>
          </p:nvPr>
        </p:nvSpPr>
        <p:spPr>
          <a:xfrm>
            <a:off x="2053456" y="4949237"/>
            <a:ext cx="6406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1461900" y="412950"/>
            <a:ext cx="9327000" cy="8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4"/>
          </p:nvPr>
        </p:nvSpPr>
        <p:spPr>
          <a:xfrm>
            <a:off x="2053450" y="2177400"/>
            <a:ext cx="64068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5"/>
          </p:nvPr>
        </p:nvSpPr>
        <p:spPr>
          <a:xfrm>
            <a:off x="2053450" y="3770863"/>
            <a:ext cx="64068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6"/>
          </p:nvPr>
        </p:nvSpPr>
        <p:spPr>
          <a:xfrm>
            <a:off x="2053450" y="5362525"/>
            <a:ext cx="64077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eam">
  <p:cSld name="CUSTOM_8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-300" y="2180775"/>
            <a:ext cx="12192000" cy="23643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122563" y="1725150"/>
            <a:ext cx="2730000" cy="4809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2"/>
          <p:cNvSpPr/>
          <p:nvPr/>
        </p:nvSpPr>
        <p:spPr>
          <a:xfrm>
            <a:off x="4677744" y="1725150"/>
            <a:ext cx="2730000" cy="4809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8232925" y="1725150"/>
            <a:ext cx="2730000" cy="4809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1"/>
          </p:nvPr>
        </p:nvSpPr>
        <p:spPr>
          <a:xfrm>
            <a:off x="118905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2"/>
          </p:nvPr>
        </p:nvSpPr>
        <p:spPr>
          <a:xfrm>
            <a:off x="471330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3"/>
          </p:nvPr>
        </p:nvSpPr>
        <p:spPr>
          <a:xfrm>
            <a:off x="8237552" y="4020675"/>
            <a:ext cx="26586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1349400" y="412950"/>
            <a:ext cx="102747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body" idx="4"/>
          </p:nvPr>
        </p:nvSpPr>
        <p:spPr>
          <a:xfrm>
            <a:off x="1189050" y="4458625"/>
            <a:ext cx="26589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5"/>
          </p:nvPr>
        </p:nvSpPr>
        <p:spPr>
          <a:xfrm>
            <a:off x="4713300" y="4447196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6"/>
          </p:nvPr>
        </p:nvSpPr>
        <p:spPr>
          <a:xfrm>
            <a:off x="8237550" y="4433967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5834700" y="0"/>
            <a:ext cx="63573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0" y="5720400"/>
            <a:ext cx="4148400" cy="1137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3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1 Background image">
  <p:cSld name="CUSTOM_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>
            <a:spLocks noGrp="1"/>
          </p:cNvSpPr>
          <p:nvPr>
            <p:ph type="title"/>
          </p:nvPr>
        </p:nvSpPr>
        <p:spPr>
          <a:xfrm>
            <a:off x="7223375" y="2088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379125" y="133200"/>
            <a:ext cx="9765900" cy="6523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CUSTOM_1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-300" y="2180775"/>
            <a:ext cx="12192000" cy="23643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title" hasCustomPrompt="1"/>
          </p:nvPr>
        </p:nvSpPr>
        <p:spPr>
          <a:xfrm>
            <a:off x="715025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26" name="Google Shape;126;p15"/>
          <p:cNvSpPr txBox="1">
            <a:spLocks noGrp="1"/>
          </p:cNvSpPr>
          <p:nvPr>
            <p:ph type="title" idx="2"/>
          </p:nvPr>
        </p:nvSpPr>
        <p:spPr>
          <a:xfrm>
            <a:off x="1349400" y="412950"/>
            <a:ext cx="10416600" cy="92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title" idx="3" hasCustomPrompt="1"/>
          </p:nvPr>
        </p:nvSpPr>
        <p:spPr>
          <a:xfrm>
            <a:off x="4516336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28" name="Google Shape;128;p15"/>
          <p:cNvSpPr txBox="1">
            <a:spLocks noGrp="1"/>
          </p:cNvSpPr>
          <p:nvPr>
            <p:ph type="title" idx="4" hasCustomPrompt="1"/>
          </p:nvPr>
        </p:nvSpPr>
        <p:spPr>
          <a:xfrm>
            <a:off x="8481454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"/>
          </p:nvPr>
        </p:nvSpPr>
        <p:spPr>
          <a:xfrm>
            <a:off x="8481446" y="361972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body" idx="5"/>
          </p:nvPr>
        </p:nvSpPr>
        <p:spPr>
          <a:xfrm>
            <a:off x="451634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body" idx="6"/>
          </p:nvPr>
        </p:nvSpPr>
        <p:spPr>
          <a:xfrm>
            <a:off x="71502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-300" y="6090000"/>
            <a:ext cx="12192000" cy="768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35" name="Google Shape;135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CUSTOM_1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0" y="150"/>
            <a:ext cx="80325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99875" y="833575"/>
            <a:ext cx="10851600" cy="557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ubTitle" idx="1"/>
          </p:nvPr>
        </p:nvSpPr>
        <p:spPr>
          <a:xfrm>
            <a:off x="1262750" y="2182550"/>
            <a:ext cx="30162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2"/>
          </p:nvPr>
        </p:nvSpPr>
        <p:spPr>
          <a:xfrm>
            <a:off x="1262750" y="4039275"/>
            <a:ext cx="30162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subTitle" idx="3"/>
          </p:nvPr>
        </p:nvSpPr>
        <p:spPr>
          <a:xfrm>
            <a:off x="8372412" y="2191930"/>
            <a:ext cx="30162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4"/>
          </p:nvPr>
        </p:nvSpPr>
        <p:spPr>
          <a:xfrm>
            <a:off x="4836784" y="2199900"/>
            <a:ext cx="30162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5"/>
          </p:nvPr>
        </p:nvSpPr>
        <p:spPr>
          <a:xfrm>
            <a:off x="4836784" y="4039275"/>
            <a:ext cx="30162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6"/>
          </p:nvPr>
        </p:nvSpPr>
        <p:spPr>
          <a:xfrm>
            <a:off x="8372412" y="4020730"/>
            <a:ext cx="30162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1349400" y="898175"/>
            <a:ext cx="10282800" cy="763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7"/>
          </p:nvPr>
        </p:nvSpPr>
        <p:spPr>
          <a:xfrm>
            <a:off x="4836784" y="2608750"/>
            <a:ext cx="30162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8"/>
          </p:nvPr>
        </p:nvSpPr>
        <p:spPr>
          <a:xfrm>
            <a:off x="8372412" y="4437550"/>
            <a:ext cx="30162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9"/>
          </p:nvPr>
        </p:nvSpPr>
        <p:spPr>
          <a:xfrm>
            <a:off x="4836784" y="4437550"/>
            <a:ext cx="30162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13"/>
          </p:nvPr>
        </p:nvSpPr>
        <p:spPr>
          <a:xfrm>
            <a:off x="1262750" y="2608750"/>
            <a:ext cx="30162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4"/>
          </p:nvPr>
        </p:nvSpPr>
        <p:spPr>
          <a:xfrm>
            <a:off x="8372412" y="2608750"/>
            <a:ext cx="30162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5"/>
          </p:nvPr>
        </p:nvSpPr>
        <p:spPr>
          <a:xfrm>
            <a:off x="1262750" y="4437550"/>
            <a:ext cx="30162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53" name="Google Shape;153;p1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54" name="Google Shape;154;p1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CUSTOM_13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-300" y="1418775"/>
            <a:ext cx="12192000" cy="45522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1349400" y="413075"/>
            <a:ext cx="104268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CUSTOM_14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3247950" y="0"/>
            <a:ext cx="56961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54800" y="1804350"/>
            <a:ext cx="11282400" cy="4129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1"/>
          </p:nvPr>
        </p:nvSpPr>
        <p:spPr>
          <a:xfrm>
            <a:off x="618625" y="1995611"/>
            <a:ext cx="1913700" cy="69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2"/>
          </p:nvPr>
        </p:nvSpPr>
        <p:spPr>
          <a:xfrm>
            <a:off x="2878894" y="1995611"/>
            <a:ext cx="1913700" cy="69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subTitle" idx="3"/>
          </p:nvPr>
        </p:nvSpPr>
        <p:spPr>
          <a:xfrm>
            <a:off x="5139163" y="2026179"/>
            <a:ext cx="1913700" cy="69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4"/>
          </p:nvPr>
        </p:nvSpPr>
        <p:spPr>
          <a:xfrm>
            <a:off x="7399433" y="2026179"/>
            <a:ext cx="1913700" cy="69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5"/>
          </p:nvPr>
        </p:nvSpPr>
        <p:spPr>
          <a:xfrm>
            <a:off x="9659702" y="1995611"/>
            <a:ext cx="1913700" cy="69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>
            <a:off x="1349400" y="412950"/>
            <a:ext cx="103878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body" idx="6"/>
          </p:nvPr>
        </p:nvSpPr>
        <p:spPr>
          <a:xfrm>
            <a:off x="618625" y="3059872"/>
            <a:ext cx="1913700" cy="268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body" idx="7"/>
          </p:nvPr>
        </p:nvSpPr>
        <p:spPr>
          <a:xfrm>
            <a:off x="2878893" y="3059872"/>
            <a:ext cx="1913700" cy="268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body" idx="8"/>
          </p:nvPr>
        </p:nvSpPr>
        <p:spPr>
          <a:xfrm>
            <a:off x="5139160" y="3059872"/>
            <a:ext cx="1913700" cy="268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body" idx="9"/>
          </p:nvPr>
        </p:nvSpPr>
        <p:spPr>
          <a:xfrm>
            <a:off x="7399428" y="3059872"/>
            <a:ext cx="1913700" cy="268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body" idx="13"/>
          </p:nvPr>
        </p:nvSpPr>
        <p:spPr>
          <a:xfrm>
            <a:off x="9659695" y="3059872"/>
            <a:ext cx="1913700" cy="268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1349400" y="412950"/>
            <a:ext cx="10387800" cy="8946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6 Title and text left">
  <p:cSld name="CUSTOM_1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5834700" y="0"/>
            <a:ext cx="63573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899875" y="833575"/>
            <a:ext cx="5581500" cy="42531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1193660" y="974375"/>
            <a:ext cx="503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body" idx="1"/>
          </p:nvPr>
        </p:nvSpPr>
        <p:spPr>
          <a:xfrm>
            <a:off x="1193525" y="1737875"/>
            <a:ext cx="5031900" cy="318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CUSTOM_16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0" y="0"/>
            <a:ext cx="63573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443975" y="974375"/>
            <a:ext cx="5581500" cy="42531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title"/>
          </p:nvPr>
        </p:nvSpPr>
        <p:spPr>
          <a:xfrm>
            <a:off x="5643475" y="1108175"/>
            <a:ext cx="5209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body" idx="1"/>
          </p:nvPr>
        </p:nvSpPr>
        <p:spPr>
          <a:xfrm>
            <a:off x="5643581" y="1871675"/>
            <a:ext cx="5209500" cy="322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92" name="Google Shape;192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1693900" y="1418775"/>
            <a:ext cx="10497900" cy="45522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54800" y="412950"/>
            <a:ext cx="894600" cy="8946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subTitle" idx="1"/>
          </p:nvPr>
        </p:nvSpPr>
        <p:spPr>
          <a:xfrm>
            <a:off x="3848400" y="2881975"/>
            <a:ext cx="558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title"/>
          </p:nvPr>
        </p:nvSpPr>
        <p:spPr>
          <a:xfrm>
            <a:off x="3848400" y="194912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body" idx="2"/>
          </p:nvPr>
        </p:nvSpPr>
        <p:spPr>
          <a:xfrm>
            <a:off x="3848450" y="3746775"/>
            <a:ext cx="55815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2192433" y="1759075"/>
            <a:ext cx="7964100" cy="4568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DO NOT REMOVE · SlidesMania">
  <p:cSld name="CUSTOM_20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3" name="Google Shape;203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2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05" name="Google Shape;205;p22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6" name="Google Shape;206;p22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2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2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2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2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211" name="Google Shape;211;p22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exend Deca SemiBold"/>
              <a:buNone/>
              <a:defRPr sz="4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3881300" y="2356675"/>
            <a:ext cx="6182700" cy="1514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Pet-O-Tel</a:t>
            </a:r>
            <a:endParaRPr sz="6000" dirty="0">
              <a:solidFill>
                <a:srgbClr val="FF5454"/>
              </a:solidFill>
            </a:endParaRPr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3479825" y="5087500"/>
            <a:ext cx="7937100" cy="894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3ª Milestone- Análise de Sistemas</a:t>
            </a:r>
            <a:endParaRPr sz="1600" dirty="0"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1"/>
          </p:nvPr>
        </p:nvSpPr>
        <p:spPr>
          <a:xfrm>
            <a:off x="1413350" y="6113650"/>
            <a:ext cx="11118600" cy="57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 José Silva 103248, Daniel Oliveira 115359, Alexandre Silva 119583, Juan Carpinteiro 103583</a:t>
            </a:r>
            <a:endParaRPr sz="1400" dirty="0"/>
          </a:p>
        </p:txBody>
      </p:sp>
      <p:sp>
        <p:nvSpPr>
          <p:cNvPr id="220" name="Google Shape;220;p23"/>
          <p:cNvSpPr/>
          <p:nvPr/>
        </p:nvSpPr>
        <p:spPr>
          <a:xfrm>
            <a:off x="0" y="5585050"/>
            <a:ext cx="264900" cy="110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2806023" y="5300539"/>
            <a:ext cx="331540" cy="468513"/>
          </a:xfrm>
          <a:custGeom>
            <a:avLst/>
            <a:gdLst/>
            <a:ahLst/>
            <a:cxnLst/>
            <a:rect l="l" t="t" r="r" b="b"/>
            <a:pathLst>
              <a:path w="8530" h="11688" extrusionOk="0">
                <a:moveTo>
                  <a:pt x="3373" y="857"/>
                </a:moveTo>
                <a:lnTo>
                  <a:pt x="3373" y="857"/>
                </a:lnTo>
                <a:cubicBezTo>
                  <a:pt x="3159" y="1142"/>
                  <a:pt x="3052" y="1499"/>
                  <a:pt x="3052" y="1856"/>
                </a:cubicBezTo>
                <a:lnTo>
                  <a:pt x="3052" y="2659"/>
                </a:lnTo>
                <a:lnTo>
                  <a:pt x="2392" y="2659"/>
                </a:lnTo>
                <a:lnTo>
                  <a:pt x="2392" y="2124"/>
                </a:lnTo>
                <a:cubicBezTo>
                  <a:pt x="2392" y="1517"/>
                  <a:pt x="2802" y="1017"/>
                  <a:pt x="3373" y="857"/>
                </a:cubicBezTo>
                <a:close/>
                <a:moveTo>
                  <a:pt x="4069" y="839"/>
                </a:moveTo>
                <a:cubicBezTo>
                  <a:pt x="4640" y="1000"/>
                  <a:pt x="5050" y="1499"/>
                  <a:pt x="5050" y="2124"/>
                </a:cubicBezTo>
                <a:lnTo>
                  <a:pt x="5050" y="2659"/>
                </a:lnTo>
                <a:lnTo>
                  <a:pt x="3587" y="2659"/>
                </a:lnTo>
                <a:lnTo>
                  <a:pt x="3587" y="1856"/>
                </a:lnTo>
                <a:cubicBezTo>
                  <a:pt x="3587" y="1463"/>
                  <a:pt x="3784" y="1107"/>
                  <a:pt x="4069" y="839"/>
                </a:cubicBezTo>
                <a:close/>
                <a:moveTo>
                  <a:pt x="4925" y="536"/>
                </a:moveTo>
                <a:cubicBezTo>
                  <a:pt x="5657" y="536"/>
                  <a:pt x="6246" y="1124"/>
                  <a:pt x="6246" y="1856"/>
                </a:cubicBezTo>
                <a:lnTo>
                  <a:pt x="6246" y="2659"/>
                </a:lnTo>
                <a:lnTo>
                  <a:pt x="5586" y="2659"/>
                </a:lnTo>
                <a:lnTo>
                  <a:pt x="5586" y="2124"/>
                </a:lnTo>
                <a:cubicBezTo>
                  <a:pt x="5586" y="1463"/>
                  <a:pt x="5247" y="875"/>
                  <a:pt x="4711" y="554"/>
                </a:cubicBezTo>
                <a:cubicBezTo>
                  <a:pt x="4783" y="554"/>
                  <a:pt x="4854" y="536"/>
                  <a:pt x="4925" y="536"/>
                </a:cubicBezTo>
                <a:close/>
                <a:moveTo>
                  <a:pt x="7316" y="4871"/>
                </a:moveTo>
                <a:lnTo>
                  <a:pt x="7691" y="9796"/>
                </a:lnTo>
                <a:lnTo>
                  <a:pt x="6959" y="10528"/>
                </a:lnTo>
                <a:lnTo>
                  <a:pt x="7316" y="4871"/>
                </a:lnTo>
                <a:close/>
                <a:moveTo>
                  <a:pt x="6603" y="3462"/>
                </a:moveTo>
                <a:lnTo>
                  <a:pt x="6139" y="10902"/>
                </a:lnTo>
                <a:lnTo>
                  <a:pt x="804" y="10902"/>
                </a:lnTo>
                <a:lnTo>
                  <a:pt x="1286" y="3462"/>
                </a:lnTo>
                <a:lnTo>
                  <a:pt x="1857" y="3462"/>
                </a:lnTo>
                <a:lnTo>
                  <a:pt x="1857" y="4515"/>
                </a:lnTo>
                <a:cubicBezTo>
                  <a:pt x="1857" y="4675"/>
                  <a:pt x="1981" y="4782"/>
                  <a:pt x="2124" y="4782"/>
                </a:cubicBezTo>
                <a:cubicBezTo>
                  <a:pt x="2267" y="4782"/>
                  <a:pt x="2392" y="4675"/>
                  <a:pt x="2392" y="4515"/>
                </a:cubicBezTo>
                <a:lnTo>
                  <a:pt x="2392" y="3462"/>
                </a:lnTo>
                <a:lnTo>
                  <a:pt x="5050" y="3462"/>
                </a:lnTo>
                <a:lnTo>
                  <a:pt x="5050" y="4515"/>
                </a:lnTo>
                <a:cubicBezTo>
                  <a:pt x="5050" y="4675"/>
                  <a:pt x="5175" y="4782"/>
                  <a:pt x="5318" y="4782"/>
                </a:cubicBezTo>
                <a:cubicBezTo>
                  <a:pt x="5479" y="4782"/>
                  <a:pt x="5586" y="4675"/>
                  <a:pt x="5586" y="4515"/>
                </a:cubicBezTo>
                <a:lnTo>
                  <a:pt x="5586" y="3462"/>
                </a:lnTo>
                <a:close/>
                <a:moveTo>
                  <a:pt x="4925" y="0"/>
                </a:moveTo>
                <a:cubicBezTo>
                  <a:pt x="4569" y="0"/>
                  <a:pt x="4230" y="107"/>
                  <a:pt x="3962" y="286"/>
                </a:cubicBezTo>
                <a:cubicBezTo>
                  <a:pt x="3873" y="268"/>
                  <a:pt x="3801" y="268"/>
                  <a:pt x="3730" y="268"/>
                </a:cubicBezTo>
                <a:cubicBezTo>
                  <a:pt x="2695" y="268"/>
                  <a:pt x="1857" y="1107"/>
                  <a:pt x="1857" y="2124"/>
                </a:cubicBezTo>
                <a:lnTo>
                  <a:pt x="1857" y="2659"/>
                </a:lnTo>
                <a:lnTo>
                  <a:pt x="1036" y="2659"/>
                </a:lnTo>
                <a:cubicBezTo>
                  <a:pt x="768" y="2659"/>
                  <a:pt x="518" y="2873"/>
                  <a:pt x="500" y="3159"/>
                </a:cubicBezTo>
                <a:lnTo>
                  <a:pt x="19" y="11134"/>
                </a:lnTo>
                <a:cubicBezTo>
                  <a:pt x="1" y="11455"/>
                  <a:pt x="233" y="11687"/>
                  <a:pt x="536" y="11687"/>
                </a:cubicBezTo>
                <a:lnTo>
                  <a:pt x="6710" y="11687"/>
                </a:lnTo>
                <a:cubicBezTo>
                  <a:pt x="6852" y="11687"/>
                  <a:pt x="6995" y="11634"/>
                  <a:pt x="7084" y="11527"/>
                </a:cubicBezTo>
                <a:lnTo>
                  <a:pt x="8351" y="10278"/>
                </a:lnTo>
                <a:cubicBezTo>
                  <a:pt x="8458" y="10171"/>
                  <a:pt x="8530" y="10010"/>
                  <a:pt x="8512" y="9867"/>
                </a:cubicBezTo>
                <a:lnTo>
                  <a:pt x="7977" y="3159"/>
                </a:lnTo>
                <a:cubicBezTo>
                  <a:pt x="7977" y="2891"/>
                  <a:pt x="7727" y="2659"/>
                  <a:pt x="7459" y="2659"/>
                </a:cubicBezTo>
                <a:lnTo>
                  <a:pt x="6781" y="2659"/>
                </a:lnTo>
                <a:lnTo>
                  <a:pt x="6781" y="1856"/>
                </a:lnTo>
                <a:cubicBezTo>
                  <a:pt x="6781" y="839"/>
                  <a:pt x="5960" y="0"/>
                  <a:pt x="49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black and white dog face&#10;&#10;AI-generated content may be incorrect.">
            <a:extLst>
              <a:ext uri="{FF2B5EF4-FFF2-40B4-BE49-F238E27FC236}">
                <a16:creationId xmlns:a16="http://schemas.microsoft.com/office/drawing/2014/main" id="{E24C0418-E08D-5122-D369-0805E1364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26403" y="272688"/>
            <a:ext cx="1865376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1545700" y="432000"/>
            <a:ext cx="9327000" cy="8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Pretendidos</a:t>
            </a:r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0" y="5579725"/>
            <a:ext cx="242700" cy="117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849150" y="1853050"/>
            <a:ext cx="9636600" cy="287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Qualidades</a:t>
            </a:r>
            <a:endParaRPr sz="1900" b="1" dirty="0"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Acesso à plataforma a partir de qualquer dispositivo, através do browser sem a necessidade de instalação de software.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Acesso a preços e serviços disponibilizados por todos os prestadores.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Forma de comunicação entre um possível utilizadorr com e o anunciante.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Suporte na realização de vários métodos de pagamentos eletrónicos.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b="1" dirty="0"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 descr="A black and white dog face&#10;&#10;AI-generated content may be incorrect.">
            <a:extLst>
              <a:ext uri="{FF2B5EF4-FFF2-40B4-BE49-F238E27FC236}">
                <a16:creationId xmlns:a16="http://schemas.microsoft.com/office/drawing/2014/main" id="{0D1B32BC-C85E-A621-B21F-643207B5A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01" y="192738"/>
            <a:ext cx="1360938" cy="1360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1545700" y="432000"/>
            <a:ext cx="9327000" cy="8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Pretendidos</a:t>
            </a:r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0" y="5579725"/>
            <a:ext cx="242700" cy="117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849150" y="1853050"/>
            <a:ext cx="9636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Restrições</a:t>
            </a:r>
            <a:endParaRPr sz="1900" b="1"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 website deve suportar diversas sessões de utilizadores sem perdas de desempenho notáveis.</a:t>
            </a: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 informação relativa aos nossos clientes deve apresentar-se resguardada na nossa base de dados.</a:t>
            </a: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 plataforma terá de ser reativa perante as ações dos utilizadores.</a:t>
            </a: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 website irá ajustar-se para ter uma apresentação adequada ao ecrã do dispositivo em uso.</a:t>
            </a: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b="1"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 descr="A black and white dog face&#10;&#10;AI-generated content may be incorrect.">
            <a:extLst>
              <a:ext uri="{FF2B5EF4-FFF2-40B4-BE49-F238E27FC236}">
                <a16:creationId xmlns:a16="http://schemas.microsoft.com/office/drawing/2014/main" id="{E37AE062-21A4-33CA-DD5B-25D0AB8ED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01" y="192738"/>
            <a:ext cx="1360938" cy="1360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>
            <a:spLocks noGrp="1"/>
          </p:cNvSpPr>
          <p:nvPr>
            <p:ph type="title"/>
          </p:nvPr>
        </p:nvSpPr>
        <p:spPr>
          <a:xfrm>
            <a:off x="1545700" y="432000"/>
            <a:ext cx="9327000" cy="8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Tecnológico</a:t>
            </a:r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56" name="Google Shape;256;p26"/>
          <p:cNvSpPr/>
          <p:nvPr/>
        </p:nvSpPr>
        <p:spPr>
          <a:xfrm>
            <a:off x="0" y="5579725"/>
            <a:ext cx="242700" cy="117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849150" y="4282025"/>
            <a:ext cx="9636600" cy="152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Na criação de Web scrapping é usado Python com recurso à biblioteca </a:t>
            </a:r>
            <a:r>
              <a:rPr lang="en-US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Flask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React para a criação do serviço web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 forma a facilitar o acesso a dados e administração da base de dados é utilizado </a:t>
            </a:r>
            <a:r>
              <a:rPr lang="en-US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PostgreSQL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2" name="Google Shape;2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2057400"/>
            <a:ext cx="1991456" cy="19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blue and black symbol&#10;&#10;AI-generated content may be incorrect.">
            <a:extLst>
              <a:ext uri="{FF2B5EF4-FFF2-40B4-BE49-F238E27FC236}">
                <a16:creationId xmlns:a16="http://schemas.microsoft.com/office/drawing/2014/main" id="{E9D6715F-B19F-B23B-FC5A-C5BD524D7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993" y="2203430"/>
            <a:ext cx="1900719" cy="1691640"/>
          </a:xfrm>
          <a:prstGeom prst="rect">
            <a:avLst/>
          </a:prstGeom>
        </p:spPr>
      </p:pic>
      <p:pic>
        <p:nvPicPr>
          <p:cNvPr id="7" name="Picture 6" descr="A blue and white elephant&#10;&#10;AI-generated content may be incorrect.">
            <a:extLst>
              <a:ext uri="{FF2B5EF4-FFF2-40B4-BE49-F238E27FC236}">
                <a16:creationId xmlns:a16="http://schemas.microsoft.com/office/drawing/2014/main" id="{0DA1BE81-C868-760A-1C4E-F8CE0EE67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849" y="1937630"/>
            <a:ext cx="2156741" cy="2223240"/>
          </a:xfrm>
          <a:prstGeom prst="rect">
            <a:avLst/>
          </a:prstGeom>
        </p:spPr>
      </p:pic>
      <p:pic>
        <p:nvPicPr>
          <p:cNvPr id="8" name="Picture 7" descr="A black and white dog face&#10;&#10;AI-generated content may be incorrect.">
            <a:extLst>
              <a:ext uri="{FF2B5EF4-FFF2-40B4-BE49-F238E27FC236}">
                <a16:creationId xmlns:a16="http://schemas.microsoft.com/office/drawing/2014/main" id="{90CE7BE8-A99F-250D-6C25-5C73569F42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01" y="192738"/>
            <a:ext cx="1360938" cy="13609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1545700" y="432000"/>
            <a:ext cx="9327000" cy="8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Estratégia de Implementação</a:t>
            </a:r>
            <a:endParaRPr/>
          </a:p>
        </p:txBody>
      </p:sp>
      <p:sp>
        <p:nvSpPr>
          <p:cNvPr id="283" name="Google Shape;283;p2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0" y="5579725"/>
            <a:ext cx="242700" cy="117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849150" y="1824600"/>
            <a:ext cx="9636600" cy="375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Tecnologias Usadas</a:t>
            </a:r>
            <a:endParaRPr sz="1900" b="1" dirty="0"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React foi escolhido devido à sua programação em componentes, que permite a reutilização/divisão de código, e o uso de </a:t>
            </a:r>
            <a:r>
              <a:rPr lang="en" sz="1900" i="1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two-way data binding</a:t>
            </a: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que consiste na “partilha” de informação síncrona através de toda a plataforma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pt-PT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PostgreSQL foi usado devido a sua robustez, sendo relacional, open-source e amplamente utilizada garante segurança, integridade dos dados e suporte a futuras integrações analíticas.</a:t>
            </a: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Flask foi usado porque era uma tecnologia na qual possuímos experiência prévia (Python), juntamente com a sua simplicidade de utilização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 descr="A black and white dog face&#10;&#10;AI-generated content may be incorrect.">
            <a:extLst>
              <a:ext uri="{FF2B5EF4-FFF2-40B4-BE49-F238E27FC236}">
                <a16:creationId xmlns:a16="http://schemas.microsoft.com/office/drawing/2014/main" id="{8AF6ED59-B221-73F4-83BA-AB6641D03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01" y="192738"/>
            <a:ext cx="1360938" cy="1360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>
            <a:spLocks noGrp="1"/>
          </p:cNvSpPr>
          <p:nvPr>
            <p:ph type="title"/>
          </p:nvPr>
        </p:nvSpPr>
        <p:spPr>
          <a:xfrm>
            <a:off x="1545700" y="432000"/>
            <a:ext cx="9327000" cy="856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 implementado já existente</a:t>
            </a:r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04" name="Google Shape;304;p30"/>
          <p:cNvSpPr/>
          <p:nvPr/>
        </p:nvSpPr>
        <p:spPr>
          <a:xfrm>
            <a:off x="0" y="5579725"/>
            <a:ext cx="242700" cy="117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849150" y="1672200"/>
            <a:ext cx="9636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355500" y="1672200"/>
            <a:ext cx="10623900" cy="1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Conforme as funcionalidades e cenários apresentados, decidimos que a primeira iteração seria focada em dois cenários.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445025" y="2807100"/>
            <a:ext cx="580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Resultado implementado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453600" y="3284100"/>
            <a:ext cx="10427700" cy="1823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en-US" sz="1900" dirty="0" err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Escolha</a:t>
            </a:r>
            <a:r>
              <a:rPr lang="en-US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900" dirty="0" err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Serviço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</a:pPr>
            <a:r>
              <a:rPr lang="en-US" sz="1900" i="1" dirty="0" err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Iniciar</a:t>
            </a:r>
            <a:r>
              <a:rPr lang="en-US" sz="1900" i="1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1900" i="1" dirty="0" err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registar</a:t>
            </a:r>
            <a:r>
              <a:rPr lang="en-US" sz="1900" i="1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i="1" dirty="0" err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conta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Agendar um serviço.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30"/>
          <p:cNvSpPr txBox="1"/>
          <p:nvPr/>
        </p:nvSpPr>
        <p:spPr>
          <a:xfrm>
            <a:off x="445000" y="5090050"/>
            <a:ext cx="10427700" cy="1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</a:pPr>
            <a:r>
              <a:rPr lang="pt-PT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Anunciar Serviço</a:t>
            </a:r>
          </a:p>
          <a:p>
            <a:pPr marL="914400" lvl="1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Adicionar, remover e editar serviços</a:t>
            </a:r>
          </a:p>
          <a:p>
            <a:pPr marL="914400" lvl="1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</a:pPr>
            <a:r>
              <a:rPr lang="en" sz="19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Confirmar e rejeitar pedidos de marcação</a:t>
            </a:r>
            <a:endParaRPr sz="19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 descr="A black and white dog face&#10;&#10;AI-generated content may be incorrect.">
            <a:extLst>
              <a:ext uri="{FF2B5EF4-FFF2-40B4-BE49-F238E27FC236}">
                <a16:creationId xmlns:a16="http://schemas.microsoft.com/office/drawing/2014/main" id="{F3C59583-7179-F077-D902-36B3D5208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01" y="192738"/>
            <a:ext cx="1360938" cy="13609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>
            <a:spLocks noGrp="1"/>
          </p:cNvSpPr>
          <p:nvPr>
            <p:ph type="title"/>
          </p:nvPr>
        </p:nvSpPr>
        <p:spPr>
          <a:xfrm>
            <a:off x="548200" y="1846618"/>
            <a:ext cx="11095500" cy="34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19" name="Google Shape;319;p3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0" y="5579725"/>
            <a:ext cx="242700" cy="117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black and white dog face&#10;&#10;AI-generated content may be incorrect.">
            <a:extLst>
              <a:ext uri="{FF2B5EF4-FFF2-40B4-BE49-F238E27FC236}">
                <a16:creationId xmlns:a16="http://schemas.microsoft.com/office/drawing/2014/main" id="{17AF8FB0-EF13-807F-30F3-2E3CD9233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67" y1="47167" x2="43167" y2="47167"/>
                        <a14:foregroundMark x1="57500" y1="47333" x2="57500" y2="47333"/>
                      </a14:backgroundRemoval>
                    </a14:imgEffect>
                  </a14:imgLayer>
                </a14:imgProps>
              </a:ext>
            </a:extLst>
          </a:blip>
          <a:srcRect l="17325" t="9989" r="15744" b="17085"/>
          <a:stretch/>
        </p:blipFill>
        <p:spPr>
          <a:xfrm>
            <a:off x="5548942" y="130629"/>
            <a:ext cx="1094016" cy="1191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EEEEEE"/>
      </a:lt2>
      <a:accent1>
        <a:srgbClr val="FF5454"/>
      </a:accent1>
      <a:accent2>
        <a:srgbClr val="FFFFFF"/>
      </a:accent2>
      <a:accent3>
        <a:srgbClr val="000000"/>
      </a:accent3>
      <a:accent4>
        <a:srgbClr val="F3ECEF"/>
      </a:accent4>
      <a:accent5>
        <a:srgbClr val="660000"/>
      </a:accent5>
      <a:accent6>
        <a:srgbClr val="660000"/>
      </a:accent6>
      <a:hlink>
        <a:srgbClr val="66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328</Words>
  <Application>Microsoft Office PowerPoint</Application>
  <PresentationFormat>Ecrã Panorâmico</PresentationFormat>
  <Paragraphs>43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8" baseType="lpstr">
      <vt:lpstr>DM Sans</vt:lpstr>
      <vt:lpstr>Abril Fatface</vt:lpstr>
      <vt:lpstr>Arial</vt:lpstr>
      <vt:lpstr>Aldrich</vt:lpstr>
      <vt:lpstr>Barlow Condensed</vt:lpstr>
      <vt:lpstr>Poppins</vt:lpstr>
      <vt:lpstr>Calibri</vt:lpstr>
      <vt:lpstr>Lexend Deca SemiBold</vt:lpstr>
      <vt:lpstr>Homemade Apple</vt:lpstr>
      <vt:lpstr>Griffy</vt:lpstr>
      <vt:lpstr>SlidesMania</vt:lpstr>
      <vt:lpstr>Pet-O-Tel</vt:lpstr>
      <vt:lpstr>Objetivos Pretendidos</vt:lpstr>
      <vt:lpstr>Objetivos Pretendidos</vt:lpstr>
      <vt:lpstr>Modelo Tecnológico</vt:lpstr>
      <vt:lpstr>Estratégia de Implementação</vt:lpstr>
      <vt:lpstr>Resultado implementado já existente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José Silva</dc:creator>
  <cp:lastModifiedBy>Daniel Oliveira</cp:lastModifiedBy>
  <cp:revision>3</cp:revision>
  <dcterms:modified xsi:type="dcterms:W3CDTF">2025-05-08T11:17:19Z</dcterms:modified>
</cp:coreProperties>
</file>