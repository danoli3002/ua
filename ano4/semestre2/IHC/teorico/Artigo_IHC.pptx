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5AB77-B96E-2A75-1FAD-A0BFF4E9B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EA1FDD-0A36-CF15-80BA-CCC35C03E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1BBC1F8-7A55-815F-1375-CA8A83B5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6318E21-6671-8E0B-3FAB-233B5C16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B02DA16-E6D6-43E9-A24E-029B9494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17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B858C-22D0-D7AF-DEA2-166CE9E4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7A38F0E-073D-3A9E-E52A-81138FDD1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FCA02C8-4B2D-C8EA-D209-11FCE9EC8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91B6348-A0DD-296D-6CDC-E13A84DA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D54155-C239-FC47-58BC-F82C199B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981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DEBD0-D43A-C705-3B13-F7A09896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F6F2248-089B-8B8E-F01D-AC60C764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A05E7A-E8DF-9330-67D8-8E635758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303ED47-E6A4-F899-8703-42ACAD36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47EF0D-22ED-828A-B6C5-FEE0DBD4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178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AC478-7C3D-AB2E-5E0D-F5626CB0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871D297-BC27-2F73-A252-5E1949841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A1D89E5-91B8-98B2-4DDB-502BF58D4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D3020D4-1CE5-C951-7BC4-E8CF8E48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13864D5-8E6D-7E98-9872-D88C1832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B83EDD7-5682-9291-771E-624F5564C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648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C7D8D-8EB5-A16E-71F3-095B5D33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6C15A43-13B0-6393-FA3B-EAE6F858E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AAD6C57-E1DD-2E55-3D6D-420028570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0687C37-8447-C132-F08F-D03C4CCF3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A4CD793-424B-9A54-00A1-650915AB2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C055687B-2507-F0D8-C536-BD141145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1F78832-013E-BC75-0E63-DF8D9084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7B9A3C4-4A3D-F722-4456-C5F35BA9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598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F956D-2BC5-9C8C-B133-E9190816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9945A44-BDB1-4415-3956-C8F5EBB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1CDD546-C024-9043-3F57-8310ACA1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3D33CEA-CE31-5664-E6E7-6F139E32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553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758C632-27C7-CF2D-4979-F275F6AC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B2A4AD1-A9DD-8350-9D11-05087604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CE5606D-C8B8-B1C0-8E2D-385FC258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639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3372C-3AFA-C10F-8B42-7A9883B95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178E14B-F8ED-2109-3615-60822DFE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EB42812-5C52-F31E-7A89-E6A3DABF9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3A0EEDC-E1EE-9051-5C15-CAA2F94BC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0CAC37E-0C98-1833-F8AE-EEE17E4C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2360C2B-E62F-4FA9-DC2F-0698BD18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220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62FE2-1114-CA5E-ECEE-11993F8C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C3E4516-8033-2A0D-F7DB-D49D6FB71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1EDCC5B-8A53-D42E-F1D4-8E62E9303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554037C-92EB-D475-D327-E4B72490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386700B-6D14-0826-4183-A69EE052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D177D38-160B-8CD4-7E7B-5F865F59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785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7EBD2-055D-CE39-A281-B54D64E7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35BE7D2-A73A-8B31-1019-3F3729A90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0545883-AE2D-AFE2-F8E0-DABAD383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4335419-072D-C8F0-3F3D-D5207E3A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FBC471B-ACC3-FCEC-368C-AA021805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9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5267A4-A18A-5CAD-D870-DC626E271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12890A5-A1A6-B642-8EAD-C9B50B2CC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8600C45-023E-E6B2-B419-23BD6159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F3959C3-076E-9EF9-7B11-E53D689B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B599530-56E8-FE82-4641-58D91D7F5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906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B2A14E9-B430-5DFD-ECD4-783A34AC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5B3C23F-0EE0-9A95-DB05-44E5D8798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9194C10-3AE1-BC15-E463-D1F03ED29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E32BC-109E-4A1A-9C26-74F218A973F8}" type="datetimeFigureOut">
              <a:rPr lang="pt-PT" smtClean="0"/>
              <a:t>22/03/2026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A483CB0-DA61-F498-CC0E-9D319BA99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706A59D-8C83-FEDE-12EF-979FEDBEA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AF388-4159-4F66-9166-D3229AB7CF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0547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4983F-FD28-2E3A-6F09-FB509C062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Implicit Learning of Professional Skills through Immersive Virtual Reality</a:t>
            </a:r>
            <a:br>
              <a:rPr lang="pt-PT" dirty="0"/>
            </a:b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AF90FB-E72E-9AC3-45F3-8A3A55F26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12227"/>
            <a:ext cx="9144000" cy="1655762"/>
          </a:xfrm>
        </p:spPr>
        <p:txBody>
          <a:bodyPr/>
          <a:lstStyle/>
          <a:p>
            <a:r>
              <a:rPr lang="en-US" dirty="0"/>
              <a:t>Bondesan, P., Canal, A., Fleury, S., </a:t>
            </a:r>
            <a:r>
              <a:rPr lang="en-US" dirty="0" err="1"/>
              <a:t>Boisadan</a:t>
            </a:r>
            <a:r>
              <a:rPr lang="en-US" dirty="0"/>
              <a:t>, A., </a:t>
            </a:r>
            <a:r>
              <a:rPr lang="en-US" dirty="0" err="1"/>
              <a:t>Richir</a:t>
            </a:r>
            <a:r>
              <a:rPr lang="en-US" dirty="0"/>
              <a:t>, S. (2025). Implicit Learning of Professional Skills through Immersive Virtual Reality: a Media Comparison Study. Proceedings of the 2025 IEEE Conference on Virtual Reality and 3D User Interfaces (VR), 442–449</a:t>
            </a:r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7B61C2-5DBC-217B-4A58-D1D2FE76D50C}"/>
              </a:ext>
            </a:extLst>
          </p:cNvPr>
          <p:cNvSpPr txBox="1"/>
          <p:nvPr/>
        </p:nvSpPr>
        <p:spPr>
          <a:xfrm>
            <a:off x="1524000" y="4567989"/>
            <a:ext cx="7892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Daniel Oliveira nº 115359</a:t>
            </a:r>
          </a:p>
          <a:p>
            <a:r>
              <a:rPr lang="pt-PT" dirty="0"/>
              <a:t>José Santos, nº</a:t>
            </a:r>
          </a:p>
          <a:p>
            <a:r>
              <a:rPr lang="en-US" dirty="0"/>
              <a:t>Human-Computer Interaction</a:t>
            </a:r>
          </a:p>
          <a:p>
            <a:r>
              <a:rPr lang="pt-PT" dirty="0"/>
              <a:t>26/03/2026</a:t>
            </a:r>
          </a:p>
        </p:txBody>
      </p:sp>
      <p:pic>
        <p:nvPicPr>
          <p:cNvPr id="1026" name="Picture 2" descr="Universidade de Aveiro - Universidade de Aveiro">
            <a:extLst>
              <a:ext uri="{FF2B5EF4-FFF2-40B4-BE49-F238E27FC236}">
                <a16:creationId xmlns:a16="http://schemas.microsoft.com/office/drawing/2014/main" id="{E9A1226F-756D-D26A-57D0-D4F96D908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179" y="5388069"/>
            <a:ext cx="3814359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061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008B4-5F85-B155-4EE4-E1E6172F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this paper is relevant for HCI and our motivation</a:t>
            </a:r>
            <a:br>
              <a:rPr lang="en-US" dirty="0"/>
            </a:b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4A9961-4048-D25B-4821-96D352965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paper directly addresses human interaction with immersive systems (HMD-based IVR) and compares it to a conventional screen-based slideshow, which is central to HCI concerns about how interaction modalities shape cognition, motivation, and performance.</a:t>
            </a:r>
            <a:br>
              <a:rPr lang="en-US" dirty="0"/>
            </a:br>
            <a:r>
              <a:rPr lang="en-US" dirty="0"/>
              <a:t>It examines experiential, embodied interaction and its consequences for decision making and learning, connecting to HCI topics such as presence, embodiment, and user experience in VR learning systems.</a:t>
            </a:r>
            <a:br>
              <a:rPr lang="en-US" dirty="0"/>
            </a:br>
            <a:r>
              <a:rPr lang="en-US" dirty="0"/>
              <a:t>The work also contributes empirical data to ongoing HCI debates on when high-immersion systems actually help, highlighting that motivation gains do not automatically translate into performance gains.</a:t>
            </a:r>
          </a:p>
          <a:p>
            <a:r>
              <a:rPr lang="en-US" dirty="0"/>
              <a:t>(para a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motivação</a:t>
            </a:r>
            <a:r>
              <a:rPr lang="en-US" dirty="0"/>
              <a:t>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falar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tens </a:t>
            </a:r>
            <a:r>
              <a:rPr lang="en-US" dirty="0" err="1"/>
              <a:t>oculos</a:t>
            </a:r>
            <a:r>
              <a:rPr lang="en-US" dirty="0"/>
              <a:t> VR e é algo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usaste</a:t>
            </a:r>
            <a:r>
              <a:rPr lang="en-US" dirty="0"/>
              <a:t> e </a:t>
            </a:r>
            <a:r>
              <a:rPr lang="en-US" dirty="0" err="1"/>
              <a:t>queriamos</a:t>
            </a:r>
            <a:r>
              <a:rPr lang="en-US" dirty="0"/>
              <a:t> </a:t>
            </a:r>
            <a:r>
              <a:rPr lang="en-US" dirty="0" err="1"/>
              <a:t>assim</a:t>
            </a:r>
            <a:r>
              <a:rPr lang="en-US" dirty="0"/>
              <a:t> </a:t>
            </a:r>
            <a:r>
              <a:rPr lang="en-US" dirty="0" err="1"/>
              <a:t>conhecer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implicaria</a:t>
            </a:r>
            <a:r>
              <a:rPr lang="en-US" dirty="0"/>
              <a:t> para </a:t>
            </a:r>
            <a:r>
              <a:rPr lang="en-US" dirty="0" err="1"/>
              <a:t>ensinar</a:t>
            </a:r>
            <a:r>
              <a:rPr lang="en-US" dirty="0"/>
              <a:t> skills de </a:t>
            </a:r>
            <a:r>
              <a:rPr lang="en-US" dirty="0" err="1"/>
              <a:t>trabalho</a:t>
            </a:r>
            <a:r>
              <a:rPr lang="en-US" dirty="0"/>
              <a:t>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5175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C2BB1-5C07-9116-CFF3-B55710AA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and context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4437722-1006-3F68-0B2A-7C4F415D1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Field of research: immersive learning technologies, virtual reality, and media comparison studies within educational technology.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Problem: Most VR learning research targets explicit learning (verbal explanations, narration, recall) and often lacks strong control conditions; much less is known about how IVR supports implicit, experiential learning of professional skills and their transfer to the real world.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Context: Professional skills often rely on tacit, hard-to-verbalize knowledge; researchers and designers need evidence about whether immersive VR is worth the additional cost and complexity compared with simpler media when training such skills.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Relevance: Understanding how immersion affects implicit learning, transfer, and motivation informs the design of training systems in many applied domains (STEM, safety-critical work, medical or industrial training).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8480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393BE-9E07-B697-314A-0051A939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– part 1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1C7BE50-554C-F4DA-DB91-630D40EC8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Approach: Between-subjects media comparison contrasting an immersive VR lesson (IVR group) with a non-immersive slideshow lesson (slideshow group) using equivalent pedagogical content.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Participants: 40 third-year engineering students in agricultural and food sciences (25 women, 15 men, aged 19–23); 18 assigned to IVR and 22 to slideshow.</a:t>
            </a:r>
            <a:br>
              <a:rPr lang="en-US" dirty="0"/>
            </a:br>
            <a:endParaRPr lang="en-US" dirty="0"/>
          </a:p>
          <a:p>
            <a:r>
              <a:rPr lang="en-US" dirty="0"/>
              <a:t>Learning task: Implicit learning of vine </a:t>
            </a:r>
            <a:r>
              <a:rPr lang="en-US" dirty="0" err="1"/>
              <a:t>vigour</a:t>
            </a:r>
            <a:r>
              <a:rPr lang="en-US" dirty="0"/>
              <a:t> assessment, a professional decision-making skill that is normally developed through practice and tacit reasoning in viticulture.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IVR condition: Meta Quest 2 HMD with controllers; participants move around a virtual vine, see it from multiple viewpoints, and repeatedly decide </a:t>
            </a:r>
            <a:r>
              <a:rPr lang="en-US" dirty="0" err="1"/>
              <a:t>vigour</a:t>
            </a:r>
            <a:r>
              <a:rPr lang="en-US" dirty="0"/>
              <a:t> levels (low, medium, high) with immediate feedback, but without explicit instructional narration.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Slideshow condition: Clickable slideshow on a laptop with the same series of 30 vine strains shown as fixed images from a single viewpoint, with equivalent decisions and feedback.</a:t>
            </a:r>
          </a:p>
        </p:txBody>
      </p:sp>
    </p:spTree>
    <p:extLst>
      <p:ext uri="{BB962C8B-B14F-4D97-AF65-F5344CB8AC3E}">
        <p14:creationId xmlns:p14="http://schemas.microsoft.com/office/powerpoint/2010/main" val="395546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2E5A9-02EB-E480-7B77-5CE54496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– part 2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5048B5E-643C-A711-857F-561925544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Measures: Pre-test questionnaire for demographics and prior knowledge; post-lesson Intrinsic Motivation Inventory (Interest/Enjoyment subscale); real-world transfer test in a vineyard measuring decision-making accuracy (number of correct </a:t>
            </a:r>
            <a:r>
              <a:rPr lang="en-US" dirty="0" err="1"/>
              <a:t>vigour</a:t>
            </a:r>
            <a:r>
              <a:rPr lang="en-US" dirty="0"/>
              <a:t> classifications out of 30) and total time to complete the task.</a:t>
            </a:r>
          </a:p>
          <a:p>
            <a:r>
              <a:rPr lang="en-US" dirty="0"/>
              <a:t>Procedure: Pre-test questionnaire, individual lesson in IVR or slideshow, immediate motivation questionnaire, and a delayed transfer test in an actual vineyard one week later.</a:t>
            </a:r>
          </a:p>
          <a:p>
            <a:r>
              <a:rPr lang="en-US" dirty="0"/>
              <a:t>Design validity: Content equity between media is enforced so that immersion and interaction modality are the main differences, satisfying good practice in media comparison for HCI evaluations.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3637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37FBB-71FB-EF84-69C4-3AE3422A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E1CE7-1568-C1B9-075D-3B099B34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– part 3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52F71C-C6FF-0869-54DA-AE7AAA210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Implicit learning strategy: The lesson avoids explicit verbal rules and instead uses repeated perceptual judgments plus feedback, which reduces explicit cognitive load and aligns with experiential, world-centered interaction.</a:t>
            </a:r>
          </a:p>
          <a:p>
            <a:pPr lvl="0"/>
            <a:r>
              <a:rPr lang="en-US" dirty="0"/>
              <a:t>Measures choice: Accuracy reflects correctness of decisions; time reflects fluency and automation of interaction and underlying cognitive processing; intrinsic motivation captures affective experience and engagement, all key dependent variables in HCI evaluation.</a:t>
            </a:r>
          </a:p>
          <a:p>
            <a:pPr lvl="0"/>
            <a:r>
              <a:rPr lang="en-US" dirty="0"/>
              <a:t>Setting: Using an authentic vineyard as a test environment makes the evaluation ecologically valid, connecting lab-based interaction with real-world task performance.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8748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0BAA5-0DC2-54F0-4439-855CF152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- part 1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2138D7F-0154-2AD8-7194-2181D7FE4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Group comparability: No significant differences in age, gender distribution, or prior knowledge between IVR and slideshow groups, so media effects are not confounded by these variables.</a:t>
            </a:r>
          </a:p>
          <a:p>
            <a:r>
              <a:rPr lang="en-US" dirty="0"/>
              <a:t>Accuracy: Mean transfer score was 17.2 (IVR) vs. 16.5 (slideshow) out of 30; the difference between groups was not statistically significant, so IVR did not improve decision accuracy.</a:t>
            </a:r>
          </a:p>
          <a:p>
            <a:r>
              <a:rPr lang="en-US" dirty="0"/>
              <a:t>Decision time: The IVR group took significantly longer in the real-world evaluation (8.6 minutes vs. 6.5 minutes for slideshow), indicating slower decisions after VR training.</a:t>
            </a:r>
          </a:p>
          <a:p>
            <a:r>
              <a:rPr lang="en-US" dirty="0"/>
              <a:t>Motivation: Intrinsic motivation scores were significantly higher in IVR (mean 6.2 on a 7-point scale) compared to slideshow (mean 5.5), confirming a strong motivational benefit of immersion.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98059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1827-F530-715A-A79C-4A6AB352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9014B-3334-393B-3908-52118BAA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Results – part 2 (</a:t>
            </a:r>
            <a:r>
              <a:rPr lang="en-US" b="1" dirty="0" err="1"/>
              <a:t>esta</a:t>
            </a:r>
            <a:r>
              <a:rPr lang="en-US" b="1" dirty="0"/>
              <a:t> </a:t>
            </a:r>
            <a:r>
              <a:rPr lang="en-US" b="1" dirty="0" err="1"/>
              <a:t>parte</a:t>
            </a:r>
            <a:r>
              <a:rPr lang="en-US" b="1" dirty="0"/>
              <a:t> </a:t>
            </a:r>
            <a:r>
              <a:rPr lang="en-US" b="1" dirty="0" err="1"/>
              <a:t>acho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Podemos </a:t>
            </a:r>
            <a:r>
              <a:rPr lang="en-US" b="1" dirty="0" err="1"/>
              <a:t>tirar</a:t>
            </a:r>
            <a:r>
              <a:rPr lang="en-US" b="1" dirty="0"/>
              <a:t>,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isto</a:t>
            </a:r>
            <a:r>
              <a:rPr lang="en-US" b="1" dirty="0"/>
              <a:t> é </a:t>
            </a:r>
            <a:r>
              <a:rPr lang="en-US" b="1" dirty="0" err="1"/>
              <a:t>mais</a:t>
            </a:r>
            <a:r>
              <a:rPr lang="en-US" b="1" dirty="0"/>
              <a:t> </a:t>
            </a:r>
            <a:r>
              <a:rPr lang="en-US" b="1" dirty="0" err="1"/>
              <a:t>falar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detalhe</a:t>
            </a:r>
            <a:r>
              <a:rPr lang="en-US" b="1" dirty="0"/>
              <a:t> no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esta</a:t>
            </a:r>
            <a:r>
              <a:rPr lang="en-US" b="1" dirty="0"/>
              <a:t> no anterior)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C07A006-8BF6-E456-53BD-1A0440FA4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Accuracy outcome: IVR learners performed above chance but similarly to slideshow learners, suggesting that for this kind of cognitive-judgment task, the embodied, high-presence interface does not automatically yield better knowledge transfer than a simpler medium.</a:t>
            </a:r>
          </a:p>
          <a:p>
            <a:pPr lvl="0"/>
            <a:r>
              <a:rPr lang="en-US" dirty="0"/>
              <a:t>Time outcome: Longer decision times for IVR-trained participants may reflect richer or more complex internal representations formed in immersive environments, making real-world matching slower; alternatively, it might indicate more deliberate, careful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Motivation outcome: Higher intrinsic motivation in IVR is consistent with prior HCI literature on presence and engagement; motivated learners may persist longer and invest more cognitive effort, which can be valuable even if short-term performance is similar.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7260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A8A8F-D3FA-F5C4-C5DF-5F804B2C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and limitations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116F8B8-CD02-8F6A-581F-830EF3EC3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Training dosage: Only 30 practice trials may be insufficient for complex tacit skills, potentially capping performance in both conditions.</a:t>
            </a:r>
            <a:endParaRPr lang="pt-PT" dirty="0"/>
          </a:p>
          <a:p>
            <a:pPr lvl="0"/>
            <a:r>
              <a:rPr lang="en-US" dirty="0"/>
              <a:t>Metrics: Time and accuracy capture only part of user </a:t>
            </a:r>
            <a:r>
              <a:rPr lang="en-US" dirty="0" err="1"/>
              <a:t>behaviour</a:t>
            </a:r>
            <a:r>
              <a:rPr lang="en-US" dirty="0"/>
              <a:t>; richer process data (interaction logs, gaze, or qualitative interviews) would give researchers more insight into how users actually exploited the VR interface.</a:t>
            </a:r>
            <a:endParaRPr lang="pt-PT" dirty="0"/>
          </a:p>
          <a:p>
            <a:pPr lvl="0"/>
            <a:r>
              <a:rPr lang="en-US" dirty="0"/>
              <a:t>Ecological complexity: Real vineyards are highly variable; interface-induced strategies may interact with environmental complexity in ways that current measures do not fully capture. (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ponto</a:t>
            </a:r>
            <a:r>
              <a:rPr lang="en-US" dirty="0"/>
              <a:t> ns se vale a </a:t>
            </a:r>
            <a:r>
              <a:rPr lang="en-US" dirty="0" err="1"/>
              <a:t>pena</a:t>
            </a:r>
            <a:r>
              <a:rPr lang="en-US" dirty="0"/>
              <a:t> </a:t>
            </a:r>
            <a:r>
              <a:rPr lang="en-US" dirty="0" err="1"/>
              <a:t>deixar</a:t>
            </a:r>
            <a:r>
              <a:rPr lang="en-US" dirty="0"/>
              <a:t> </a:t>
            </a:r>
            <a:r>
              <a:rPr lang="en-US" dirty="0" err="1"/>
              <a:t>pq</a:t>
            </a:r>
            <a:r>
              <a:rPr lang="en-US" dirty="0"/>
              <a:t> no </a:t>
            </a:r>
            <a:r>
              <a:rPr lang="en-US" dirty="0" err="1"/>
              <a:t>metodos</a:t>
            </a:r>
            <a:r>
              <a:rPr lang="en-US" dirty="0"/>
              <a:t> </a:t>
            </a:r>
            <a:r>
              <a:rPr lang="en-US" dirty="0" err="1"/>
              <a:t>dizemos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é fixe </a:t>
            </a:r>
            <a:r>
              <a:rPr lang="en-US" dirty="0" err="1"/>
              <a:t>estarmos</a:t>
            </a:r>
            <a:r>
              <a:rPr lang="en-US" dirty="0"/>
              <a:t> a usar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vinheira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vivo)</a:t>
            </a: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7931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BCDAE-BF3D-9FED-92C0-DD631CBE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Overall conclusions and future work - Conclusions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8D72DA1-5F76-1B97-FBB5-987311AB8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IVR did not provide a statistically significant advantage over slideshow for implicit learning of vine </a:t>
            </a:r>
            <a:r>
              <a:rPr lang="en-US" dirty="0" err="1"/>
              <a:t>vigour</a:t>
            </a:r>
            <a:r>
              <a:rPr lang="en-US" dirty="0"/>
              <a:t> assessment in terms of accuracy.</a:t>
            </a:r>
            <a:endParaRPr lang="pt-PT" dirty="0"/>
          </a:p>
          <a:p>
            <a:pPr lvl="0"/>
            <a:r>
              <a:rPr lang="en-US" dirty="0"/>
              <a:t>IVR led to slower decisions in the real-world task but significantly higher intrinsic motivation.</a:t>
            </a:r>
            <a:endParaRPr lang="pt-PT" dirty="0"/>
          </a:p>
          <a:p>
            <a:r>
              <a:rPr lang="en-US" dirty="0"/>
              <a:t>Immersive systems therefore appear more clearly beneficial for engagement than for immediate performance on this type of cognitive professional skill.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6319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44A28-1F96-7EBB-A690-FB02AE8D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Overall conclusions and future work - </a:t>
            </a:r>
            <a:r>
              <a:rPr lang="pt-PT" sz="3600" b="1" dirty="0"/>
              <a:t>Future </a:t>
            </a:r>
            <a:r>
              <a:rPr lang="pt-PT" sz="3600" b="1" dirty="0" err="1"/>
              <a:t>work</a:t>
            </a:r>
            <a:r>
              <a:rPr lang="pt-PT" sz="3600" b="1" dirty="0"/>
              <a:t> </a:t>
            </a:r>
            <a:r>
              <a:rPr lang="pt-PT" sz="3600" b="1" dirty="0" err="1"/>
              <a:t>directions</a:t>
            </a:r>
            <a:endParaRPr lang="pt-PT" sz="36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D07599-4C13-59BD-EA67-2DB80A260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Explore tasks where immersion directly supports spatial reasoning, motor skills, or social interaction, which may better leverage embodiment and presence.</a:t>
            </a:r>
            <a:endParaRPr lang="pt-PT" dirty="0"/>
          </a:p>
          <a:p>
            <a:pPr lvl="0"/>
            <a:r>
              <a:rPr lang="en-US" dirty="0"/>
              <a:t>Combine implicit and explicit learning strategies in IVR to balance intuitive pattern acquisition with targeted guidance.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04114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6AE95-83BA-AC04-FC8B-DB634191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critical analysis 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ADA24C5-482A-E87B-BEDF-6ABF4826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sz="2400" b="1" dirty="0"/>
              <a:t>Strengths:</a:t>
            </a:r>
            <a:endParaRPr lang="pt-PT" sz="2400" dirty="0"/>
          </a:p>
          <a:p>
            <a:pPr lvl="0"/>
            <a:r>
              <a:rPr lang="en-US" sz="2400" dirty="0"/>
              <a:t>Clear media-comparison design with content-equivalent conditions and a real-world transfer task.</a:t>
            </a:r>
            <a:endParaRPr lang="pt-PT" sz="2400" dirty="0"/>
          </a:p>
          <a:p>
            <a:r>
              <a:rPr lang="en-US" sz="2400" dirty="0"/>
              <a:t>Focus on implicit learning fills an important gap in immersive learning research, which usually emphasizes explicit instruction.</a:t>
            </a:r>
          </a:p>
          <a:p>
            <a:pPr lvl="0"/>
            <a:r>
              <a:rPr lang="pt-PT" sz="2400" b="1" dirty="0" err="1"/>
              <a:t>Weaknesses</a:t>
            </a:r>
            <a:r>
              <a:rPr lang="pt-PT" sz="2400" b="1" dirty="0"/>
              <a:t> </a:t>
            </a:r>
            <a:r>
              <a:rPr lang="pt-PT" sz="2400" b="1" dirty="0" err="1"/>
              <a:t>and</a:t>
            </a:r>
            <a:r>
              <a:rPr lang="pt-PT" sz="2400" b="1" dirty="0"/>
              <a:t> open </a:t>
            </a:r>
            <a:r>
              <a:rPr lang="pt-PT" sz="2400" b="1" dirty="0" err="1"/>
              <a:t>issues</a:t>
            </a:r>
            <a:r>
              <a:rPr lang="pt-PT" sz="2400" b="1" dirty="0"/>
              <a:t>:</a:t>
            </a:r>
            <a:endParaRPr lang="pt-PT" sz="2400" dirty="0"/>
          </a:p>
          <a:p>
            <a:pPr lvl="0"/>
            <a:r>
              <a:rPr lang="en-US" sz="2400" dirty="0"/>
              <a:t>The VR interaction is limited (no manipulation of vines), potentially under-using core affordances of VR such as rich embodied action and haptic feedback.</a:t>
            </a:r>
            <a:endParaRPr lang="pt-PT" sz="2400" dirty="0"/>
          </a:p>
          <a:p>
            <a:pPr lvl="0"/>
            <a:r>
              <a:rPr lang="en-US" sz="2400" dirty="0"/>
              <a:t>The study does not deeply analyze user experience aspects like presence, embodiment, or perceived workload, which are central to HCI explanations of why VR may or may not help.</a:t>
            </a:r>
            <a:endParaRPr lang="pt-PT" sz="2400" dirty="0"/>
          </a:p>
          <a:p>
            <a:pPr lvl="0"/>
            <a:r>
              <a:rPr lang="en-US" sz="2400" dirty="0"/>
              <a:t>The paper provides a nuanced example showing that more immersive interfaces can increase motivation without guaranteeing better task performance, a critical reminder for HCI practitioners and researchers who might otherwise over-claim the benefits of VR.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/>
              <a:t>(</a:t>
            </a:r>
            <a:r>
              <a:rPr lang="en-US" sz="2400" dirty="0" err="1"/>
              <a:t>tbm</a:t>
            </a:r>
            <a:r>
              <a:rPr lang="en-US" sz="2400" dirty="0"/>
              <a:t> </a:t>
            </a:r>
            <a:r>
              <a:rPr lang="en-US" sz="2400" dirty="0" err="1"/>
              <a:t>temos</a:t>
            </a:r>
            <a:r>
              <a:rPr lang="en-US" sz="2400" dirty="0"/>
              <a:t> de </a:t>
            </a:r>
            <a:r>
              <a:rPr lang="en-US" sz="2400" dirty="0" err="1"/>
              <a:t>falar</a:t>
            </a:r>
            <a:r>
              <a:rPr lang="en-US" sz="2400" dirty="0"/>
              <a:t> de o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achamos</a:t>
            </a:r>
            <a:r>
              <a:rPr lang="en-US" sz="2400" dirty="0"/>
              <a:t> </a:t>
            </a:r>
            <a:r>
              <a:rPr lang="en-US" sz="2400" dirty="0" err="1"/>
              <a:t>mais</a:t>
            </a:r>
            <a:r>
              <a:rPr lang="en-US" sz="2400" dirty="0"/>
              <a:t> </a:t>
            </a:r>
            <a:r>
              <a:rPr lang="en-US" sz="2400" dirty="0" err="1"/>
              <a:t>interresantes</a:t>
            </a:r>
            <a:r>
              <a:rPr lang="en-US" sz="2400" dirty="0"/>
              <a:t> e se </a:t>
            </a:r>
            <a:r>
              <a:rPr lang="en-US" sz="2400" dirty="0" err="1"/>
              <a:t>achamos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isto</a:t>
            </a:r>
            <a:r>
              <a:rPr lang="en-US" sz="2400" dirty="0"/>
              <a:t> </a:t>
            </a:r>
            <a:r>
              <a:rPr lang="en-US" sz="2400" dirty="0" err="1"/>
              <a:t>tem</a:t>
            </a:r>
            <a:r>
              <a:rPr lang="en-US" sz="2400" dirty="0"/>
              <a:t> </a:t>
            </a:r>
            <a:r>
              <a:rPr lang="en-US" sz="2400" dirty="0" err="1"/>
              <a:t>potencial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não</a:t>
            </a:r>
            <a:r>
              <a:rPr lang="en-US" sz="2400" dirty="0"/>
              <a:t> para o </a:t>
            </a:r>
            <a:r>
              <a:rPr lang="en-US" sz="2400" dirty="0" err="1"/>
              <a:t>fututo</a:t>
            </a:r>
            <a:r>
              <a:rPr lang="en-US" sz="2400" dirty="0"/>
              <a:t>)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3805035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74741-7A43-9216-3E2B-7509983D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Biliography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F68BDDA-C3C4-F9CD-2AC8-0F3D41C27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Ig</a:t>
            </a:r>
            <a:r>
              <a:rPr lang="pt-PT" dirty="0"/>
              <a:t> que pomos o artigo e o vídeo? Não </a:t>
            </a:r>
            <a:r>
              <a:rPr lang="pt-PT" dirty="0" err="1"/>
              <a:t>tou</a:t>
            </a:r>
            <a:r>
              <a:rPr lang="pt-PT" dirty="0"/>
              <a:t> a ver </a:t>
            </a:r>
            <a:r>
              <a:rPr lang="pt-PT"/>
              <a:t>mais nenhum</a:t>
            </a:r>
          </a:p>
        </p:txBody>
      </p:sp>
    </p:spTree>
    <p:extLst>
      <p:ext uri="{BB962C8B-B14F-4D97-AF65-F5344CB8AC3E}">
        <p14:creationId xmlns:p14="http://schemas.microsoft.com/office/powerpoint/2010/main" val="17489765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1428</Words>
  <Application>Microsoft Office PowerPoint</Application>
  <PresentationFormat>Ecrã Panorâmico</PresentationFormat>
  <Paragraphs>60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do Office</vt:lpstr>
      <vt:lpstr>Implicit Learning of Professional Skills through Immersive Virtual Reality </vt:lpstr>
      <vt:lpstr>Why this paper is relevant for HCI and our motivation </vt:lpstr>
      <vt:lpstr>Introduction and context</vt:lpstr>
      <vt:lpstr>Methods – part 1</vt:lpstr>
      <vt:lpstr>Methods – part 2</vt:lpstr>
      <vt:lpstr>Methods – part 3</vt:lpstr>
      <vt:lpstr>Results - part 1</vt:lpstr>
      <vt:lpstr>Results – part 2 (esta parte acho que Podemos tirar, que isto é mais falar em detalhe no que esta no anterior)</vt:lpstr>
      <vt:lpstr>Discussion and limitations</vt:lpstr>
      <vt:lpstr>Overall conclusions and future work - Conclusions </vt:lpstr>
      <vt:lpstr>Overall conclusions and future work - Future work directions</vt:lpstr>
      <vt:lpstr>Our critical analysis </vt:lpstr>
      <vt:lpstr>Biliography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Oliveira</dc:creator>
  <cp:lastModifiedBy>Daniel Oliveira</cp:lastModifiedBy>
  <cp:revision>1</cp:revision>
  <dcterms:created xsi:type="dcterms:W3CDTF">2026-03-22T13:09:38Z</dcterms:created>
  <dcterms:modified xsi:type="dcterms:W3CDTF">2026-03-22T13:30:19Z</dcterms:modified>
</cp:coreProperties>
</file>